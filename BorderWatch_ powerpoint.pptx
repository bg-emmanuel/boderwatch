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6256000" cy="9144000"/>
  <p:notesSz cx="9144000" cy="16256000"/>
  <p:embeddedFontLst>
    <p:embeddedFont>
      <p:font typeface="Quattrocento Sans" charset="-122" pitchFamily="34"/>
      <p:regular r:id="rId30"/>
    </p:embeddedFont>
    <p:embeddedFont>
      <p:font typeface="Unna" charset="-122" pitchFamily="34"/>
      <p:regular r:id="rId31"/>
    </p:embeddedFont>
    <p:embeddedFont>
      <p:font typeface="Liter" charset="-122" pitchFamily="34"/>
      <p:regular r:id="rId3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SLA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P50</c:v>
                  </c:pt>
                  <c:pt idx="1">
                    <c:v>P95</c:v>
                  </c:pt>
                  <c:pt idx="2">
                    <c:v>P99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200</c:v>
                </c:pt>
                <c:pt idx="2">
                  <c:v>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Achieved</c:v>
                </c:pt>
              </c:strCache>
            </c:strRef>
          </c:tx>
          <c:spPr>
            <a:solidFill>
              <a:srgbClr val="C896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P50</c:v>
                  </c:pt>
                  <c:pt idx="1">
                    <c:v>P95</c:v>
                  </c:pt>
                  <c:pt idx="2">
                    <c:v>P99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18.4</c:v>
                </c:pt>
                <c:pt idx="1">
                  <c:v>137</c:v>
                </c:pt>
                <c:pt idx="2">
                  <c:v>183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ddd6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Latency (ms)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BG-Emmanuel/BorderWatch" TargetMode="External"/><Relationship Id="rId3" Type="http://schemas.openxmlformats.org/officeDocument/2006/relationships/hyperlink" Target="https://trello.com/b/0AE8ngDz/borderwatch" TargetMode="External"/><Relationship Id="rId1" Type="http://schemas.openxmlformats.org/officeDocument/2006/relationships/image" Target="../media/image-23-1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thumbs.dreamstime.com/b/technology-drives-logistics-efficiency-gps-tracking-trucks-urban-transport-fleet-being-monitored-using-395460524.jpg">    </p:cNvPr>
          <p:cNvPicPr>
            <a:picLocks noChangeAspect="1"/>
          </p:cNvPicPr>
          <p:nvPr/>
        </p:nvPicPr>
        <p:blipFill>
          <a:blip r:embed="rId1"/>
          <a:srcRect l="1444" r="1444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3D">
                  <a:alpha val="53000"/>
                </a:srgbClr>
              </a:gs>
              <a:gs pos="40000">
                <a:srgbClr val="1B2A3D">
                  <a:alpha val="80000"/>
                </a:srgbClr>
              </a:gs>
              <a:gs pos="100000">
                <a:srgbClr val="1B2A3D">
                  <a:alpha val="96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318000" y="2032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4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ICTU — INSTITUTE OF COMPUTING TECHNOLOGY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175500" y="2540000"/>
            <a:ext cx="1905000" cy="254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1778000" y="2794000"/>
            <a:ext cx="1270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600" kern="0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BORDERWATCH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3048000" y="38100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High-Availability GPS Goods-in-Transit Surveillance 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175500" y="4572000"/>
            <a:ext cx="1905000" cy="254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9" name="Text 6"/>
          <p:cNvSpPr/>
          <p:nvPr/>
        </p:nvSpPr>
        <p:spPr>
          <a:xfrm>
            <a:off x="3048000" y="4826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spc="200" kern="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Boot 3.3 / Java 21 + React 18 / TypeScript + CEMAC Customs Corridors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318000" y="6604000"/>
            <a:ext cx="762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SEN3244 — Software Architecture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7 — Bachelor of Software Engineering, Year 3</a:t>
            </a:r>
            <a:endParaRPr lang="en-US" sz="1600" dirty="0"/>
          </a:p>
          <a:p>
            <a:pPr algn="ctr">
              <a:lnSpc>
                <a:spcPct val="18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Academic Year 2025 – 2026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048000" y="8255000"/>
            <a:ext cx="1016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Nguend Arthur Johann (ICTU20223180) + Tambi Emmanuel Tambi (ICTU20233726)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PRESENTATION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2700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2000" y="1651000"/>
            <a:ext cx="50800" cy="292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79500" y="29845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overview, problem statement, and project objectives for the BorderWatch surveillance platform.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382000" y="16510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2000" y="1651000"/>
            <a:ext cx="50800" cy="292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8699500" y="1841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699500" y="2476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699500" y="29845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Development methodologies and architectural foundations including Scrum, Hexagonal Architecture, and microservices.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62000" y="4953000"/>
            <a:ext cx="50800" cy="292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9500" y="5143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1079500" y="5778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 &amp; Materials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79500" y="62865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 design, Hexagonal Architecture, authentication, RBAC, test strategy, and technology stack.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82000" y="4953000"/>
            <a:ext cx="7112000" cy="2921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5098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82000" y="4953000"/>
            <a:ext cx="50800" cy="292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1" name="Text 19"/>
          <p:cNvSpPr/>
          <p:nvPr/>
        </p:nvSpPr>
        <p:spPr>
          <a:xfrm>
            <a:off x="8699500" y="5143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8699500" y="5778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 &amp; Discussion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699500" y="6286500"/>
            <a:ext cx="6477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Performance benchmarks exceeding all targets, CI/CD pipeline, monitoring, and Kubernetes deployment.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0" y="8128000"/>
            <a:ext cx="7112000" cy="762000"/>
          </a:xfrm>
          <a:prstGeom prst="rect">
            <a:avLst/>
          </a:prstGeom>
          <a:solidFill>
            <a:srgbClr val="1B2A3D"/>
          </a:solidFill>
          <a:ln/>
          <a:effectLst>
            <a:outerShdw sx="100000" sy="100000" kx="0" ky="0" algn="bl" rotWithShape="0" blurRad="76200" dist="25400" dir="5400000">
              <a:srgbClr val="000000">
                <a:alpha val="10196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6000" y="8128000"/>
            <a:ext cx="6604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05 — Recommendations &amp; Conclusion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aglgroup.com/87823e1b46dd6fea72a1ab6496d1c095d4e93ade">    </p:cNvPr>
          <p:cNvPicPr>
            <a:picLocks noChangeAspect="1"/>
          </p:cNvPicPr>
          <p:nvPr/>
        </p:nvPicPr>
        <p:blipFill>
          <a:blip r:embed="rId1"/>
          <a:srcRect l="29535" r="29535" t="0" b="0"/>
          <a:stretch/>
        </p:blipFill>
        <p:spPr>
          <a:xfrm>
            <a:off x="7315200" y="0"/>
            <a:ext cx="89408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8940800" cy="9144000"/>
          </a:xfrm>
          <a:prstGeom prst="rect">
            <a:avLst/>
          </a:prstGeom>
          <a:gradFill rotWithShape="1" flip="none">
            <a:gsLst>
              <a:gs pos="0">
                <a:srgbClr val="1B2A3D"/>
              </a:gs>
              <a:gs pos="30000">
                <a:srgbClr val="1B2A3D">
                  <a:alpha val="73000"/>
                </a:srgbClr>
              </a:gs>
              <a:gs pos="100000">
                <a:srgbClr val="1B2A3D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540000"/>
            <a:ext cx="317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Problem statement, system overview, and project objectives for the BorderWatch surveillance platform.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06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 Overview &amp; Problem Statement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112000" cy="444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BorderWatch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a real-time distributed GPS surveillance system for monitoring goods-in-transit across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CEMAC customs corridors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processes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10,000+ GPS pings/second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truck-mounted beacons, applies the Haversine algorithm for geofencing, and records violations with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SHA-256 blockchain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audit trails.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Coverage: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Douala–N'Djamena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(2,500 km) and 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Douala–Bangui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corridors.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6096000"/>
            <a:ext cx="7112000" cy="2476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62000" y="6096000"/>
            <a:ext cx="50800" cy="24765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000" y="61976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0392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Critical Weaknesses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16000" y="66040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1. Detection gap: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Fewer than 5% of corridor deviations detected between checkpoints.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2. Evidence integrity: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Paper stamps can be forged; database records can be silently altered.</a:t>
            </a:r>
            <a:endParaRPr lang="en-US" sz="18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3. No prioritization: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systematic way to decide which trucks to inspect.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382000" y="1460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460500"/>
            <a:ext cx="342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8" name="Text 16"/>
          <p:cNvSpPr/>
          <p:nvPr/>
        </p:nvSpPr>
        <p:spPr>
          <a:xfrm>
            <a:off x="8572500" y="1625600"/>
            <a:ext cx="304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10,124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8572500" y="2286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Requests / Second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065000" y="1460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65000" y="1460500"/>
            <a:ext cx="342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5500" y="1625600"/>
            <a:ext cx="304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137 ms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12255500" y="2286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P95 Latency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382000" y="3111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8382000" y="3111500"/>
            <a:ext cx="342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6" name="Text 24"/>
          <p:cNvSpPr/>
          <p:nvPr/>
        </p:nvSpPr>
        <p:spPr>
          <a:xfrm>
            <a:off x="8572500" y="3276600"/>
            <a:ext cx="304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 18 s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8572500" y="3937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Chaos MTTR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2065000" y="3111500"/>
            <a:ext cx="34290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65000" y="3111500"/>
            <a:ext cx="342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0" name="Text 28"/>
          <p:cNvSpPr/>
          <p:nvPr/>
        </p:nvSpPr>
        <p:spPr>
          <a:xfrm>
            <a:off x="12255500" y="3276600"/>
            <a:ext cx="3048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335x</a:t>
            </a:r>
            <a:endParaRPr lang="en-US" sz="4000" dirty="0"/>
          </a:p>
        </p:txBody>
      </p:sp>
      <p:sp>
        <p:nvSpPr>
          <p:cNvPr id="31" name="Text 29"/>
          <p:cNvSpPr/>
          <p:nvPr/>
        </p:nvSpPr>
        <p:spPr>
          <a:xfrm>
            <a:off x="12255500" y="3937000"/>
            <a:ext cx="304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ROI First Week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382000" y="4826000"/>
            <a:ext cx="7112000" cy="37465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3" name="Text 31"/>
          <p:cNvSpPr/>
          <p:nvPr/>
        </p:nvSpPr>
        <p:spPr>
          <a:xfrm>
            <a:off x="8699500" y="5016500"/>
            <a:ext cx="6477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BorderWatch Solutions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699500" y="5588000"/>
            <a:ext cx="647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GPS telemetry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replaces paper-based verification with real-time 10k rps ingestion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blockchain chains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 tamper-proof audit trails with court-admissible certificates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risk scoring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(Z-score + Kalman filter) enables intelligent inspection prioritization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906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3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Project Objectives &amp; Key Achievements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4572000"/>
        </p:xfrm>
        <a:graphic>
          <a:graphicData uri="http://schemas.openxmlformats.org/drawingml/2006/table">
            <a:tbl>
              <a:tblPr/>
              <a:tblGrid>
                <a:gridCol w="736600"/>
                <a:gridCol w="7366000"/>
                <a:gridCol w="3241040"/>
                <a:gridCol w="3388360"/>
              </a:tblGrid>
              <a:tr h="40415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Objective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Achieved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Distributed SOA processing GPS pings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&gt;10k rps, P95 &lt;200ms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10,124 rps, 137ms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Boot 3.3 / Java 21 backend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 microservices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Ingestion + Tracking + Compliance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 18 / TypeScript frontend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9-page SPA, 6 roles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auth, live map, AI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Haversine geofencing algorithm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Pure Java implementation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ON/OFF_ROUTE detection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Self-healing container recovery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MTTR &lt;30s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&lt;18s, 0 requests lost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SHA-256 blockchain audit trail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Merkle tree + certificates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verifyChain() detects tampering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multi-factor risk scoring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0-100 per truck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Z-score + Kalman filter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Jenkins CI/CD pipeline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≥80% coverage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94.9% (116 tests)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Docker + Kubernetes deployment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HPA, PDB, rolling updates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 containers verified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78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Prometheus + Grafana observability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 alert rules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21-panel dashboard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762000" y="6350000"/>
            <a:ext cx="14732000" cy="2159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13" name="Text 10"/>
          <p:cNvSpPr/>
          <p:nvPr/>
        </p:nvSpPr>
        <p:spPr>
          <a:xfrm>
            <a:off x="1079500" y="6477000"/>
            <a:ext cx="4318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10 Objectives — ACHIEVED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79500" y="6985000"/>
            <a:ext cx="14097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Every quantitative KPI was met or exceeded. The Hexagonal Architecture enabled 116 pure JUnit tests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Spring context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The Chaos Monkey test confirmed automatic container recovery in &lt;18 seconds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requests dropped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magnific.com/bbe83b5b2434645087ea940e45396d2f144642cd.jpg">    </p:cNvPr>
          <p:cNvPicPr>
            <a:picLocks noChangeAspect="1"/>
          </p:cNvPicPr>
          <p:nvPr/>
        </p:nvPicPr>
        <p:blipFill>
          <a:blip r:embed="rId1"/>
          <a:srcRect l="17363" r="17363" t="0" b="0"/>
          <a:stretch/>
        </p:blipFill>
        <p:spPr>
          <a:xfrm>
            <a:off x="7315200" y="0"/>
            <a:ext cx="89408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8940800" cy="9144000"/>
          </a:xfrm>
          <a:prstGeom prst="rect">
            <a:avLst/>
          </a:prstGeom>
          <a:gradFill rotWithShape="1" flip="none">
            <a:gsLst>
              <a:gs pos="0">
                <a:srgbClr val="1B2A3D"/>
              </a:gs>
              <a:gs pos="30000">
                <a:srgbClr val="1B2A3D">
                  <a:alpha val="73000"/>
                </a:srgbClr>
              </a:gs>
              <a:gs pos="100000">
                <a:srgbClr val="1B2A3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540000"/>
            <a:ext cx="317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Development methodologies and architectural foundations for the BorderWatch system.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Development Methodology &amp; Scrum Selection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2286000"/>
        </p:xfrm>
        <a:graphic>
          <a:graphicData uri="http://schemas.openxmlformats.org/drawingml/2006/table">
            <a:tbl>
              <a:tblPr/>
              <a:tblGrid>
                <a:gridCol w="2651760"/>
                <a:gridCol w="4419600"/>
                <a:gridCol w="3241040"/>
                <a:gridCol w="4419600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Methodology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Core Philosophy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Delivery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Waterfall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Sequential phases; frozen requirements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Single delivery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Fixed-scope, well-understood projects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Agile/Scrum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2-week sprints; working software each sprint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Continuous delivery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Complex, evolving software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Integrate dev+ops; automate CI/CD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 commit deployable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Teams owning production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762000" y="40005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Scrum Was Chosen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762000" y="4572000"/>
            <a:ext cx="4699000" cy="38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762000" y="4572000"/>
            <a:ext cx="469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5" name="Shape 12"/>
          <p:cNvSpPr/>
          <p:nvPr/>
        </p:nvSpPr>
        <p:spPr>
          <a:xfrm>
            <a:off x="1041400" y="4826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16" name="Text 13"/>
          <p:cNvSpPr/>
          <p:nvPr/>
        </p:nvSpPr>
        <p:spPr>
          <a:xfrm>
            <a:off x="1016000" y="533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Iterative Optimization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5778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targets required iterative tuning: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TiDB PRE_SPLIT_REGIONS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TCP kernel tuning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Spring @Async thread pool config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778500" y="4572000"/>
            <a:ext cx="4699000" cy="38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6"/>
          <p:cNvSpPr/>
          <p:nvPr/>
        </p:nvSpPr>
        <p:spPr>
          <a:xfrm>
            <a:off x="5778500" y="4572000"/>
            <a:ext cx="469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0" name="Shape 17"/>
          <p:cNvSpPr/>
          <p:nvPr/>
        </p:nvSpPr>
        <p:spPr>
          <a:xfrm>
            <a:off x="60325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1" name="Text 18"/>
          <p:cNvSpPr/>
          <p:nvPr/>
        </p:nvSpPr>
        <p:spPr>
          <a:xfrm>
            <a:off x="6032500" y="533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Sprint Decomposition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032500" y="5778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 1: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Infrastructure + GPS ingestion pipeline + telemetry storage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Sprint 2: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Tracking + compliance engine + React frontend + all documentation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795000" y="4572000"/>
            <a:ext cx="4699000" cy="3810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1"/>
          <p:cNvSpPr/>
          <p:nvPr/>
        </p:nvSpPr>
        <p:spPr>
          <a:xfrm>
            <a:off x="10795000" y="4572000"/>
            <a:ext cx="46990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5" name="Shape 22"/>
          <p:cNvSpPr/>
          <p:nvPr/>
        </p:nvSpPr>
        <p:spPr>
          <a:xfrm>
            <a:off x="10998200" y="4826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6" name="Text 23"/>
          <p:cNvSpPr/>
          <p:nvPr/>
        </p:nvSpPr>
        <p:spPr>
          <a:xfrm>
            <a:off x="11049000" y="5334000"/>
            <a:ext cx="419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2-Person Role Clarity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049000" y="5778500"/>
            <a:ext cx="4191000" cy="241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Tambi Emmanuel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PO/Scrum Master, architecture review, sprint planning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Nguend Arthur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Developer + Documentation Lead, full-stack implementation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2418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4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Related Literature &amp; Architectural Foundations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524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524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1625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Dragoni et al. (2017)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Microservices enable independent deployment and fault isolation. Each BorderWatch service (Ingestion, Tracking, Compliance) deploys independently with its own database.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382000" y="1524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8382000" y="1524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6" name="Text 14"/>
          <p:cNvSpPr/>
          <p:nvPr/>
        </p:nvSpPr>
        <p:spPr>
          <a:xfrm>
            <a:off x="8636000" y="1625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Cockburn (2005)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Hexagonal Architecture enables zero-mock unit testing of domain services. All 116 BorderWatch tests run without starting a Spring context.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429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2000" y="3429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3530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Kalman (1960)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Kalman filter for trajectory prediction and anomaly detection. Applied in the AI risk scoring module for truck behavior analysis.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82000" y="3429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382000" y="3429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8636000" y="3530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Hohpe &amp; Woolf (2003)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Publish-Subscribe pattern decouples producers from consumers. RabbitMQ topic exchange connects ingestion to tracking and compliance.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5334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62000" y="5334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5435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Spring Boot 3.3 Docs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Auto-configuration, Spring Data JPA, Spring AMQP, and Spring Actuator provide the infrastructure foundation for all three microservices.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382000" y="5334000"/>
            <a:ext cx="7112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0" y="53340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8" name="Text 26"/>
          <p:cNvSpPr/>
          <p:nvPr/>
        </p:nvSpPr>
        <p:spPr>
          <a:xfrm>
            <a:off x="8636000" y="5435600"/>
            <a:ext cx="660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Haversine Formula</a:t>
            </a:r>
            <a:pPr>
              <a:lnSpc>
                <a:spcPct val="145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Great-circle distance calculation for geofencing. Implemented in pure Java in GeofencingService for detecting off-route trucks across CEMAC corridors.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08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sets.icepanel.io/c4301290893e22cdf7c742ccff9288ed1de211fd.png">    </p:cNvPr>
          <p:cNvPicPr>
            <a:picLocks noChangeAspect="1"/>
          </p:cNvPicPr>
          <p:nvPr/>
        </p:nvPicPr>
        <p:blipFill>
          <a:blip r:embed="rId1"/>
          <a:srcRect l="20531" r="20531" t="0" b="0"/>
          <a:stretch/>
        </p:blipFill>
        <p:spPr>
          <a:xfrm>
            <a:off x="7315200" y="0"/>
            <a:ext cx="89408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8940800" cy="9144000"/>
          </a:xfrm>
          <a:prstGeom prst="rect">
            <a:avLst/>
          </a:prstGeom>
          <a:gradFill rotWithShape="1" flip="none">
            <a:gsLst>
              <a:gs pos="0">
                <a:srgbClr val="1B2A3D"/>
              </a:gs>
              <a:gs pos="30000">
                <a:srgbClr val="1B2A3D">
                  <a:alpha val="73000"/>
                </a:srgbClr>
              </a:gs>
              <a:gs pos="100000">
                <a:srgbClr val="1B2A3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540000"/>
            <a:ext cx="317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System design, Hexagonal Architecture, authentication, RBAC, tests, and technology stack.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System Architecture Overview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97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Three independently deployable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Spring Boot 3.3 / Java 21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microservices following the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Hexagonal (Ports &amp; Adapters) Architecture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React 18 TypeScript SPA frontend. RabbitMQ async events. MySQL 8 / TiDB Cloud persistence. JWT auth with 6 roles.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2349500"/>
            <a:ext cx="4572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2000" y="2349500"/>
            <a:ext cx="4572000" cy="635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16000" y="2565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61131" y="0"/>
                </a:moveTo>
                <a:cubicBezTo>
                  <a:pt x="268506" y="0"/>
                  <a:pt x="355600" y="87094"/>
                  <a:pt x="355600" y="194469"/>
                </a:cubicBezTo>
                <a:cubicBezTo>
                  <a:pt x="355600" y="203706"/>
                  <a:pt x="348169" y="211138"/>
                  <a:pt x="338931" y="211138"/>
                </a:cubicBezTo>
                <a:cubicBezTo>
                  <a:pt x="329694" y="211138"/>
                  <a:pt x="322263" y="203706"/>
                  <a:pt x="322263" y="194469"/>
                </a:cubicBezTo>
                <a:cubicBezTo>
                  <a:pt x="322263" y="105499"/>
                  <a:pt x="250101" y="33337"/>
                  <a:pt x="161131" y="33337"/>
                </a:cubicBezTo>
                <a:cubicBezTo>
                  <a:pt x="151894" y="33337"/>
                  <a:pt x="144463" y="25906"/>
                  <a:pt x="144463" y="16669"/>
                </a:cubicBezTo>
                <a:cubicBezTo>
                  <a:pt x="144463" y="7431"/>
                  <a:pt x="151894" y="0"/>
                  <a:pt x="161131" y="0"/>
                </a:cubicBezTo>
                <a:close/>
                <a:moveTo>
                  <a:pt x="144463" y="83344"/>
                </a:moveTo>
                <a:cubicBezTo>
                  <a:pt x="144463" y="74106"/>
                  <a:pt x="151894" y="66675"/>
                  <a:pt x="161131" y="66675"/>
                </a:cubicBezTo>
                <a:cubicBezTo>
                  <a:pt x="231696" y="66675"/>
                  <a:pt x="288925" y="123904"/>
                  <a:pt x="288925" y="194469"/>
                </a:cubicBezTo>
                <a:cubicBezTo>
                  <a:pt x="288925" y="203706"/>
                  <a:pt x="281494" y="211138"/>
                  <a:pt x="272256" y="211138"/>
                </a:cubicBezTo>
                <a:cubicBezTo>
                  <a:pt x="263019" y="211138"/>
                  <a:pt x="255587" y="203706"/>
                  <a:pt x="255587" y="194469"/>
                </a:cubicBezTo>
                <a:cubicBezTo>
                  <a:pt x="255587" y="142309"/>
                  <a:pt x="213291" y="100013"/>
                  <a:pt x="161131" y="100013"/>
                </a:cubicBezTo>
                <a:cubicBezTo>
                  <a:pt x="151894" y="100013"/>
                  <a:pt x="144463" y="92581"/>
                  <a:pt x="144463" y="83344"/>
                </a:cubicBezTo>
                <a:close/>
                <a:moveTo>
                  <a:pt x="18336" y="99110"/>
                </a:moveTo>
                <a:cubicBezTo>
                  <a:pt x="24448" y="86678"/>
                  <a:pt x="40838" y="85288"/>
                  <a:pt x="50631" y="95081"/>
                </a:cubicBezTo>
                <a:lnTo>
                  <a:pt x="139879" y="184329"/>
                </a:lnTo>
                <a:lnTo>
                  <a:pt x="162104" y="162104"/>
                </a:lnTo>
                <a:cubicBezTo>
                  <a:pt x="170785" y="153422"/>
                  <a:pt x="184884" y="153422"/>
                  <a:pt x="193566" y="162104"/>
                </a:cubicBezTo>
                <a:cubicBezTo>
                  <a:pt x="202248" y="170785"/>
                  <a:pt x="202248" y="184884"/>
                  <a:pt x="193566" y="193566"/>
                </a:cubicBezTo>
                <a:lnTo>
                  <a:pt x="171341" y="215791"/>
                </a:lnTo>
                <a:lnTo>
                  <a:pt x="260588" y="305038"/>
                </a:lnTo>
                <a:cubicBezTo>
                  <a:pt x="270381" y="314831"/>
                  <a:pt x="268922" y="331153"/>
                  <a:pt x="256560" y="337334"/>
                </a:cubicBezTo>
                <a:cubicBezTo>
                  <a:pt x="232807" y="349071"/>
                  <a:pt x="206137" y="355669"/>
                  <a:pt x="177869" y="355669"/>
                </a:cubicBezTo>
                <a:cubicBezTo>
                  <a:pt x="79663" y="355669"/>
                  <a:pt x="69" y="276076"/>
                  <a:pt x="69" y="177869"/>
                </a:cubicBezTo>
                <a:cubicBezTo>
                  <a:pt x="69" y="149602"/>
                  <a:pt x="6667" y="122863"/>
                  <a:pt x="18405" y="99179"/>
                </a:cubicBezTo>
                <a:close/>
              </a:path>
            </a:pathLst>
          </a:custGeom>
          <a:solidFill>
            <a:srgbClr val="2E7D6F"/>
          </a:solidFill>
          <a:ln/>
        </p:spPr>
      </p:sp>
      <p:sp>
        <p:nvSpPr>
          <p:cNvPr id="15" name="Text 13"/>
          <p:cNvSpPr/>
          <p:nvPr/>
        </p:nvSpPr>
        <p:spPr>
          <a:xfrm>
            <a:off x="1473200" y="2540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 Service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16000" y="3048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GPS ping ingestion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classes: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TelemetryController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TelemetryService (@Async)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TelemetryRecord (Java 21)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Pattern: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Fire-and-forget @Async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715000" y="2349500"/>
            <a:ext cx="4572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715000" y="2349500"/>
            <a:ext cx="4572000" cy="635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6775" y="25654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-11112"/>
                </a:moveTo>
                <a:cubicBezTo>
                  <a:pt x="212318" y="-11112"/>
                  <a:pt x="222250" y="-1181"/>
                  <a:pt x="222250" y="11112"/>
                </a:cubicBezTo>
                <a:lnTo>
                  <a:pt x="222250" y="23822"/>
                </a:lnTo>
                <a:cubicBezTo>
                  <a:pt x="290384" y="33546"/>
                  <a:pt x="344279" y="87441"/>
                  <a:pt x="354003" y="155575"/>
                </a:cubicBezTo>
                <a:lnTo>
                  <a:pt x="366712" y="155575"/>
                </a:lnTo>
                <a:cubicBezTo>
                  <a:pt x="379006" y="155575"/>
                  <a:pt x="388938" y="165507"/>
                  <a:pt x="388938" y="177800"/>
                </a:cubicBezTo>
                <a:cubicBezTo>
                  <a:pt x="388938" y="190093"/>
                  <a:pt x="379006" y="200025"/>
                  <a:pt x="366712" y="200025"/>
                </a:cubicBezTo>
                <a:lnTo>
                  <a:pt x="354003" y="200025"/>
                </a:lnTo>
                <a:cubicBezTo>
                  <a:pt x="344279" y="268159"/>
                  <a:pt x="290384" y="322054"/>
                  <a:pt x="222250" y="331778"/>
                </a:cubicBezTo>
                <a:lnTo>
                  <a:pt x="222250" y="344488"/>
                </a:lnTo>
                <a:cubicBezTo>
                  <a:pt x="222250" y="356781"/>
                  <a:pt x="212318" y="366712"/>
                  <a:pt x="200025" y="366712"/>
                </a:cubicBezTo>
                <a:cubicBezTo>
                  <a:pt x="187732" y="366712"/>
                  <a:pt x="177800" y="356781"/>
                  <a:pt x="177800" y="344488"/>
                </a:cubicBezTo>
                <a:lnTo>
                  <a:pt x="177800" y="331778"/>
                </a:lnTo>
                <a:cubicBezTo>
                  <a:pt x="109666" y="322054"/>
                  <a:pt x="55771" y="268159"/>
                  <a:pt x="46047" y="200025"/>
                </a:cubicBezTo>
                <a:lnTo>
                  <a:pt x="33337" y="200025"/>
                </a:lnTo>
                <a:cubicBezTo>
                  <a:pt x="21044" y="200025"/>
                  <a:pt x="11112" y="190093"/>
                  <a:pt x="11112" y="177800"/>
                </a:cubicBezTo>
                <a:cubicBezTo>
                  <a:pt x="11112" y="165507"/>
                  <a:pt x="21044" y="155575"/>
                  <a:pt x="33337" y="155575"/>
                </a:cubicBezTo>
                <a:lnTo>
                  <a:pt x="46047" y="155575"/>
                </a:lnTo>
                <a:cubicBezTo>
                  <a:pt x="55771" y="87441"/>
                  <a:pt x="109666" y="33546"/>
                  <a:pt x="177800" y="23822"/>
                </a:cubicBezTo>
                <a:lnTo>
                  <a:pt x="177800" y="11112"/>
                </a:lnTo>
                <a:cubicBezTo>
                  <a:pt x="177800" y="-1181"/>
                  <a:pt x="187732" y="-11112"/>
                  <a:pt x="200025" y="-11112"/>
                </a:cubicBezTo>
                <a:close/>
                <a:moveTo>
                  <a:pt x="88900" y="177800"/>
                </a:moveTo>
                <a:cubicBezTo>
                  <a:pt x="88900" y="239132"/>
                  <a:pt x="138693" y="288925"/>
                  <a:pt x="200025" y="288925"/>
                </a:cubicBezTo>
                <a:cubicBezTo>
                  <a:pt x="261357" y="288925"/>
                  <a:pt x="311150" y="239132"/>
                  <a:pt x="311150" y="177800"/>
                </a:cubicBezTo>
                <a:cubicBezTo>
                  <a:pt x="311150" y="116468"/>
                  <a:pt x="261357" y="66675"/>
                  <a:pt x="200025" y="66675"/>
                </a:cubicBezTo>
                <a:cubicBezTo>
                  <a:pt x="138693" y="66675"/>
                  <a:pt x="88900" y="116468"/>
                  <a:pt x="88900" y="177800"/>
                </a:cubicBezTo>
                <a:close/>
                <a:moveTo>
                  <a:pt x="200025" y="111125"/>
                </a:moveTo>
                <a:cubicBezTo>
                  <a:pt x="236824" y="111125"/>
                  <a:pt x="266700" y="141001"/>
                  <a:pt x="266700" y="177800"/>
                </a:cubicBezTo>
                <a:cubicBezTo>
                  <a:pt x="266700" y="214599"/>
                  <a:pt x="236824" y="244475"/>
                  <a:pt x="200025" y="244475"/>
                </a:cubicBezTo>
                <a:cubicBezTo>
                  <a:pt x="163226" y="244475"/>
                  <a:pt x="133350" y="214599"/>
                  <a:pt x="133350" y="177800"/>
                </a:cubicBezTo>
                <a:cubicBezTo>
                  <a:pt x="133350" y="141001"/>
                  <a:pt x="163226" y="111125"/>
                  <a:pt x="200025" y="111125"/>
                </a:cubicBezTo>
                <a:close/>
              </a:path>
            </a:pathLst>
          </a:cu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6426200" y="2540000"/>
            <a:ext cx="355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 Service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69000" y="3048000"/>
            <a:ext cx="406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Geofencing + route analysis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classes: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GeofencingService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Haversine algorithm (pure Java)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+ 2 CEMAC corridor definitions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Pattern: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ON/OFF_ROUTE detection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668000" y="2349500"/>
            <a:ext cx="48260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DD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68000" y="2349500"/>
            <a:ext cx="4826000" cy="635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4" name="Shape 22"/>
          <p:cNvSpPr/>
          <p:nvPr/>
        </p:nvSpPr>
        <p:spPr>
          <a:xfrm>
            <a:off x="10922000" y="25654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0995" y="0"/>
                  <a:pt x="184190" y="695"/>
                  <a:pt x="187107" y="2014"/>
                </a:cubicBezTo>
                <a:lnTo>
                  <a:pt x="317956" y="57507"/>
                </a:lnTo>
                <a:cubicBezTo>
                  <a:pt x="333236" y="63966"/>
                  <a:pt x="344626" y="79038"/>
                  <a:pt x="344557" y="97234"/>
                </a:cubicBezTo>
                <a:cubicBezTo>
                  <a:pt x="344210" y="166132"/>
                  <a:pt x="315873" y="292189"/>
                  <a:pt x="196205" y="349488"/>
                </a:cubicBezTo>
                <a:cubicBezTo>
                  <a:pt x="184606" y="355044"/>
                  <a:pt x="171133" y="355044"/>
                  <a:pt x="159534" y="349488"/>
                </a:cubicBezTo>
                <a:cubicBezTo>
                  <a:pt x="39797" y="292189"/>
                  <a:pt x="11529" y="166132"/>
                  <a:pt x="11182" y="97234"/>
                </a:cubicBezTo>
                <a:cubicBezTo>
                  <a:pt x="11112" y="79038"/>
                  <a:pt x="22503" y="63966"/>
                  <a:pt x="37782" y="57507"/>
                </a:cubicBezTo>
                <a:lnTo>
                  <a:pt x="168563" y="2014"/>
                </a:lnTo>
                <a:cubicBezTo>
                  <a:pt x="171480" y="695"/>
                  <a:pt x="174605" y="0"/>
                  <a:pt x="177800" y="0"/>
                </a:cubicBezTo>
                <a:close/>
                <a:moveTo>
                  <a:pt x="177800" y="46395"/>
                </a:moveTo>
                <a:lnTo>
                  <a:pt x="177800" y="308997"/>
                </a:lnTo>
                <a:cubicBezTo>
                  <a:pt x="273645" y="262602"/>
                  <a:pt x="299412" y="159812"/>
                  <a:pt x="300038" y="98276"/>
                </a:cubicBezTo>
                <a:lnTo>
                  <a:pt x="177800" y="46464"/>
                </a:lnTo>
                <a:lnTo>
                  <a:pt x="177800" y="46464"/>
                </a:ln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5" name="Text 23"/>
          <p:cNvSpPr/>
          <p:nvPr/>
        </p:nvSpPr>
        <p:spPr>
          <a:xfrm>
            <a:off x="11379200" y="2540000"/>
            <a:ext cx="381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 Service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922000" y="3048000"/>
            <a:ext cx="4318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Role:</a:t>
            </a:r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Violations + blockchain audit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classes: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ComplianceService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SHA-256 createAuditBlock()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 State machine isValidTransition()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Pattern:</a:t>
            </a:r>
            <a:pPr>
              <a:lnSpc>
                <a:spcPct val="150000"/>
              </a:lnSpc>
              <a:spcBef>
                <a:spcPts val="300"/>
              </a:spcBef>
            </a:pPr>
            <a:r>
              <a:rPr lang="en-US" sz="14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Merkle tree certificates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62000" y="577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Infrastructure Stack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2000" y="6286500"/>
            <a:ext cx="14732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Frontend: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18 + TypeScript + Vite + Zustand + React-Leaflet (CEMAC map) + Recharts + Axios + React Router v6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Backend: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Java 21 + Spring Boot 3.3 + Spring Web MVC + Spring Data JPA + Spring AMQP + Spring Security (JWT) + Spring Actuator + Micrometer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Infrastructure: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Docker Compose (13 containers) + Nginx + RabbitMQ 3.13 + MySQL 8 / TiDB Cloud + Prometheus 2.53 + Grafana v11.1 + Jenkins LTS + Ansible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Functional Requirements &amp; Acceptance Criteria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6921500"/>
        </p:xfrm>
        <a:graphic>
          <a:graphicData uri="http://schemas.openxmlformats.org/drawingml/2006/table">
            <a:tbl>
              <a:tblPr/>
              <a:tblGrid>
                <a:gridCol w="1178560"/>
                <a:gridCol w="6482080"/>
                <a:gridCol w="2946400"/>
                <a:gridCol w="4124960"/>
              </a:tblGrid>
              <a:tr h="559827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User Story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Priority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Acceptance Criterion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GPS beacon POSTs location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202 Accepted in &lt;10ms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processes 10k GPS pings/sec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P95 137ms at 10,124 rps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Haversine geofencing detects off-route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analyzePosition() returns ON/OFF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FCFA penalties by severity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50k / 200k / 1M FCFA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auth with 6 roles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@PreAuthorize enforcement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 SPA with 9 pages, live map, AI risk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 authenticated pages by 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Self-heal after container failure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&lt;18s, 0 requests dropped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SHA-256 blockchain audit trail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Should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verifyChain() detects tampering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FR-09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AI risk scoring 0-100 per truck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Should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 factors + cargo multiplier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616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FR-10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Truck registry CRUD operations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0392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/api/v1/trucks, ADMIN write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Backend Design — Hexagonal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i="1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domain layer contains pure Java with zero Spring imports. All 116 unit tests run without starting a Spring context.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14732000" cy="6604000"/>
        </p:xfrm>
        <a:graphic>
          <a:graphicData uri="http://schemas.openxmlformats.org/drawingml/2006/table">
            <a:tbl>
              <a:tblPr/>
              <a:tblGrid>
                <a:gridCol w="2062480"/>
                <a:gridCol w="4714240"/>
                <a:gridCol w="7955280"/>
              </a:tblGrid>
              <a:tr h="531356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Layer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Component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TelemetryRecord (Java 21 record)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Pure value object, factory TelemetryRecord.of() with validation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TelemetryService (@Service @Async)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ingest() validates, persistAsync() + publishAsync() fire-and-forget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GeofencingService (@Service)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analyzePosition() Haversine algorithm, 2 CEMAC corridors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896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ComplianceService (@Service)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classifyViolation(), isValidTransition(), createAuditBlock() SHA-256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565C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Outbound 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TelemetryRepository (interface)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save() — implemented by JPA adapter, never by domain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565C0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Outbound Port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TelemetryEventPublisher (interface)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Defines publish() — implemented by RabbitMQ adapter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Inbound Adapter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Controllers (@RestController)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TelemetryController, AuthController, TruckController with @PreAuthorize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5908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E7D6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Outbound Adapter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JPA + RabbitMQ Adapters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TelemetryJpaAdapter, RabbitMqTelemetryPublisher — @Async non-blocking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Authentication &amp; Role-Based Access Control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371600"/>
            <a:ext cx="1473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request requires a valid JWT Bearer token except POST /login and GET /actuator/health. GPS beacons use X-API-Key header.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905000"/>
          <a:ext cx="14732000" cy="4635500"/>
        </p:xfrm>
        <a:graphic>
          <a:graphicData uri="http://schemas.openxmlformats.org/drawingml/2006/table">
            <a:tbl>
              <a:tblPr/>
              <a:tblGrid>
                <a:gridCol w="2651760"/>
                <a:gridCol w="3241040"/>
                <a:gridCol w="8839200"/>
              </a:tblGrid>
              <a:tr h="55424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What They Can Access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ROLE_ADMIN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System administrator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Everything — users, trucks, corridors, all data, all pages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ROLE_DIRECTOR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Customs director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Stats, AI briefings, violations, reports, map, blockchain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ROLE_OFFICER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Field customs officer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Map, violations (view/acknowledge/contest), GPS submit, trucks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ROLE_OPS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DevOps engineer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Monitoring, health endpoints, Grafana, map, trucks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ROLE_AUDITOR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Court auditor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Read-only: violations, blockchain chain, compliance certificates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020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ROLE_BEACON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GPS truck device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POST /api/v1/telemetry only (authenticated via X-API-Key header)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762000" y="6794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JWT Authentication Flow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62000" y="7302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POST /api/v1/auth/login with bcrypt-validated password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Server returns JWT accessToken (HMAC-SHA256 signed, 24h expiry)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3.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JwtFilter validates token on every request, sets Spring Security context with user role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Test Results &amp; Coverage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460500"/>
            <a:ext cx="14732000" cy="1016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12" name="Text 10"/>
          <p:cNvSpPr/>
          <p:nvPr/>
        </p:nvSpPr>
        <p:spPr>
          <a:xfrm>
            <a:off x="1016000" y="1524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116/116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Tests Pass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1524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94.9%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Statement Coverage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0" y="1524000"/>
            <a:ext cx="330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91.7%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Branch Coverage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684000" y="15240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 Coverage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26924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Sample Test Cases (116 total)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3175000"/>
          <a:ext cx="14732000" cy="3746500"/>
        </p:xfrm>
        <a:graphic>
          <a:graphicData uri="http://schemas.openxmlformats.org/drawingml/2006/table">
            <a:tbl>
              <a:tblPr/>
              <a:tblGrid>
                <a:gridCol w="1767840"/>
                <a:gridCol w="2651760"/>
                <a:gridCol w="5598160"/>
                <a:gridCol w="3241040"/>
                <a:gridCol w="1473200"/>
              </a:tblGrid>
              <a:tr h="44601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 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Service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Expected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TC-001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Ingestion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TelemetryRecord.of() valid payload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id=UUID, status=ON_ROUTE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TC-002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Ingestion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latitude=91.0 throws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IllegalArgumentException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4601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TC-114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Tracking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analyzePosition(Douala)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ON_ROUTE, CORRIDOR_DOUALA_NDJAMENA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TC-121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Tracking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analyzePosition(Libreville)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OFF_ROUTE, corridorId=null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TC-207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classifyViolation(100.1km)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HIGH, 1,000,000 FCFA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TC-219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RESOLVED to PENDING transition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false (terminal state)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TC-228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Genesis block prev_hash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'0' x 64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778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TC-236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Compliance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getChain() is immutable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UnsupportedOperationException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762000" y="7112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Hexagonal Architecture invariant proven: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All 116 tests use pure JUnit 5 + AssertJ —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@SpringBootTest, no Testcontainers, no Mockito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Domain logic (TelemetryRecord.of(), GeofencingService.analyzePosition(), ComplianceService.classifyViolation()) is fully isolated from infrastructure.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930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7" name="Text 5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Backend Technologies</a:t>
            </a:r>
            <a:endParaRPr lang="en-US" sz="22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79600"/>
          <a:ext cx="7112000" cy="4699000"/>
        </p:xfrm>
        <a:graphic>
          <a:graphicData uri="http://schemas.openxmlformats.org/drawingml/2006/table">
            <a:tbl>
              <a:tblPr/>
              <a:tblGrid>
                <a:gridCol w="2844800"/>
                <a:gridCol w="1564640"/>
                <a:gridCol w="2702560"/>
              </a:tblGrid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 LTS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Records, sealed classes, virtual threads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Boot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3.3.0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Auto-config, embedded Tomcat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Security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6.3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auth, BCrypt(12), @PreAuthorize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Data JPA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3.3.0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ORM, Hikari connection pool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AMQP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3.1.x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RabbitMQ @RabbitListener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Spring Actuator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3.3.0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Health, Prometheus metrics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Micrometer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1.13.x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Counter, Histogram for Prometheus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jjwt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0.12.5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JWT generation + validation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RabbitMQ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3.13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Topic exchange decoupling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8382000" y="14605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Frontend Technologies</a:t>
            </a:r>
            <a:endParaRPr lang="en-US" sz="22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79600"/>
          <a:ext cx="7112000" cy="3746500"/>
        </p:xfrm>
        <a:graphic>
          <a:graphicData uri="http://schemas.openxmlformats.org/drawingml/2006/table">
            <a:tbl>
              <a:tblPr/>
              <a:tblGrid>
                <a:gridCol w="2844800"/>
                <a:gridCol w="1564640"/>
                <a:gridCol w="2702560"/>
              </a:tblGrid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18.3.1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Hooks, functional components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TypeScript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5.4.5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Type safety across frontend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 Router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v6.24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9-page SPA routing with guards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Zustand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4.5.4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Global state: trucks, KPIs, alerts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React-Leaflet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4.2.1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CEMAC corridor map (OSM tiles)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Recharts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2.12.7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Throughput/latency dashboards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68313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Axios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1.7.2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HTTP client, 401 interceptor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1"/>
          <p:cNvSpPr/>
          <p:nvPr/>
        </p:nvSpPr>
        <p:spPr>
          <a:xfrm>
            <a:off x="8382000" y="58420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Infrastructure</a:t>
            </a:r>
            <a:endParaRPr lang="en-US" sz="2200" dirty="0"/>
          </a:p>
        </p:txBody>
      </p:sp>
      <p:graphicFrame>
        <p:nvGraphicFramePr>
          <p:cNvPr id="4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6261100"/>
          <a:ext cx="7112000" cy="2159000"/>
        </p:xfrm>
        <a:graphic>
          <a:graphicData uri="http://schemas.openxmlformats.org/drawingml/2006/table">
            <a:tbl>
              <a:tblPr/>
              <a:tblGrid>
                <a:gridCol w="2844800"/>
                <a:gridCol w="1564640"/>
                <a:gridCol w="2702560"/>
              </a:tblGrid>
              <a:tr h="4292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Technology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Version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Role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4292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Docker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v27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 containers, multi-stage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2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Prometheus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v2.53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22 alert rules, scraping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44190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Grafana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v11.1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21-panel dashboard, 5s refresh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275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Jenkins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LTS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13-stage CI/CD pipeline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</a:tbl>
          </a:graphicData>
        </a:graphic>
      </p:graphicFrame>
      <p:sp>
        <p:nvSpPr>
          <p:cNvPr id="17" name="Text 1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iro.medium.com/f007045080e1ad3e9fef8878653747a862b977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0"/>
            <a:ext cx="89408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8940800" cy="9144000"/>
          </a:xfrm>
          <a:prstGeom prst="rect">
            <a:avLst/>
          </a:prstGeom>
          <a:gradFill rotWithShape="1" flip="none">
            <a:gsLst>
              <a:gs pos="0">
                <a:srgbClr val="1B2A3D"/>
              </a:gs>
              <a:gs pos="30000">
                <a:srgbClr val="1B2A3D">
                  <a:alpha val="73000"/>
                </a:srgbClr>
              </a:gs>
              <a:gs pos="100000">
                <a:srgbClr val="1B2A3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540000"/>
            <a:ext cx="317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RESULTS &amp; DISCUSSION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Performance benchmarks, CI/CD, monitoring, and deployment verification.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442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Performance Benchmarks — All Targets Exceeded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graphicFrame>
        <p:nvGraphicFramePr>
          <p:cNvPr id="11" name="Chart 0" descr=""/>
          <p:cNvGraphicFramePr/>
          <p:nvPr/>
        </p:nvGraphicFramePr>
        <p:xfrm>
          <a:off x="762000" y="1460500"/>
          <a:ext cx="7366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09000" y="1460500"/>
          <a:ext cx="6985000" cy="4318000"/>
        </p:xfrm>
        <a:graphic>
          <a:graphicData uri="http://schemas.openxmlformats.org/drawingml/2006/table">
            <a:tbl>
              <a:tblPr/>
              <a:tblGrid>
                <a:gridCol w="2235200"/>
                <a:gridCol w="1955800"/>
                <a:gridCol w="1536700"/>
                <a:gridCol w="1257300"/>
              </a:tblGrid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Metric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Target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Achieved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8F6F1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Status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D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Throughput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&gt;10,000 rps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10,124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P50 Latency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&lt;100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18.4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P95 Latency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&lt;200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137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P99 Latency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&lt;500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183 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Chaos MTTR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&lt;30 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&lt;18 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Requests Lost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5F1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Monthly Cost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&lt;15,000 FCFA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293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~8,500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D7D4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PASS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DD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762000" y="6096000"/>
            <a:ext cx="14732000" cy="23495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14" name="Text 10"/>
          <p:cNvSpPr/>
          <p:nvPr/>
        </p:nvSpPr>
        <p:spPr>
          <a:xfrm>
            <a:off x="1079500" y="6286500"/>
            <a:ext cx="14097000" cy="196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Result: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system processed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10,124 GPS pings per second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P95 latency of 137ms — well under the 200ms SLA. The Chaos Monkey test killed a running container; the system self-healed in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 18 seconds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zero dropped requests.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TiDB Cloud with PRE_SPLIT_REGIONS=8 enabled 10k writes/sec. TCP kernel tuning and Spring @Async thread pool (core=20, max=100, queue=10000) were the critical optimizations.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442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CI/CD Pipeline &amp; Monitoring Infrastructure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Jenkins 13-Stage CI/CD Pipeline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18796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Stages: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Checkout → Compile → Unit Tests → JaCoCo Coverage → Integration Tests → Build JARs → Build Docker Images → Push to Registry → Deploy to Dev → Smoke Tests → Performance Tests → Security Scan → Deploy to Prod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Automated gates: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Coverage ≥80%, smoke tests pass, zero critical vulnerabilities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4224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Prometheus + Grafana Stack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2000" y="1879600"/>
            <a:ext cx="7112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 2.53: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22 alert rules, scrapes all service metrics via /actuator/prometheus endpoints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 v11.1:</a:t>
            </a:r>
            <a:pPr>
              <a:lnSpc>
                <a:spcPct val="150000"/>
              </a:lnSpc>
              <a:spcBef>
                <a:spcPts val="6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21-panel dashboard, 5-second auto-refresh, email + Slack alert notifications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3937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Monitored Metrics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445000"/>
            <a:ext cx="34925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62000" y="4445000"/>
            <a:ext cx="34925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8" name="Shape 16"/>
          <p:cNvSpPr/>
          <p:nvPr/>
        </p:nvSpPr>
        <p:spPr>
          <a:xfrm>
            <a:off x="10160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04775" y="14288"/>
                </a:moveTo>
                <a:cubicBezTo>
                  <a:pt x="104775" y="6370"/>
                  <a:pt x="98405" y="0"/>
                  <a:pt x="90488" y="0"/>
                </a:cubicBezTo>
                <a:cubicBezTo>
                  <a:pt x="82570" y="0"/>
                  <a:pt x="76200" y="6370"/>
                  <a:pt x="76200" y="14288"/>
                </a:cubicBezTo>
                <a:lnTo>
                  <a:pt x="76200" y="38100"/>
                </a:lnTo>
                <a:cubicBezTo>
                  <a:pt x="55185" y="38100"/>
                  <a:pt x="38100" y="55185"/>
                  <a:pt x="38100" y="76200"/>
                </a:cubicBezTo>
                <a:lnTo>
                  <a:pt x="14288" y="76200"/>
                </a:lnTo>
                <a:cubicBezTo>
                  <a:pt x="6370" y="76200"/>
                  <a:pt x="0" y="82570"/>
                  <a:pt x="0" y="90488"/>
                </a:cubicBezTo>
                <a:cubicBezTo>
                  <a:pt x="0" y="98405"/>
                  <a:pt x="6370" y="104775"/>
                  <a:pt x="14288" y="104775"/>
                </a:cubicBezTo>
                <a:lnTo>
                  <a:pt x="38100" y="104775"/>
                </a:lnTo>
                <a:lnTo>
                  <a:pt x="38100" y="138113"/>
                </a:lnTo>
                <a:lnTo>
                  <a:pt x="14288" y="138113"/>
                </a:lnTo>
                <a:cubicBezTo>
                  <a:pt x="6370" y="138113"/>
                  <a:pt x="0" y="144482"/>
                  <a:pt x="0" y="152400"/>
                </a:cubicBezTo>
                <a:cubicBezTo>
                  <a:pt x="0" y="160318"/>
                  <a:pt x="6370" y="166688"/>
                  <a:pt x="14288" y="166688"/>
                </a:cubicBezTo>
                <a:lnTo>
                  <a:pt x="38100" y="166688"/>
                </a:lnTo>
                <a:lnTo>
                  <a:pt x="38100" y="200025"/>
                </a:lnTo>
                <a:lnTo>
                  <a:pt x="14288" y="200025"/>
                </a:lnTo>
                <a:cubicBezTo>
                  <a:pt x="6370" y="200025"/>
                  <a:pt x="0" y="206395"/>
                  <a:pt x="0" y="214313"/>
                </a:cubicBezTo>
                <a:cubicBezTo>
                  <a:pt x="0" y="222230"/>
                  <a:pt x="6370" y="228600"/>
                  <a:pt x="14288" y="228600"/>
                </a:cubicBezTo>
                <a:lnTo>
                  <a:pt x="38100" y="228600"/>
                </a:lnTo>
                <a:cubicBezTo>
                  <a:pt x="38100" y="249615"/>
                  <a:pt x="55185" y="266700"/>
                  <a:pt x="76200" y="266700"/>
                </a:cubicBezTo>
                <a:lnTo>
                  <a:pt x="76200" y="290513"/>
                </a:lnTo>
                <a:cubicBezTo>
                  <a:pt x="76200" y="298430"/>
                  <a:pt x="82570" y="304800"/>
                  <a:pt x="90488" y="304800"/>
                </a:cubicBezTo>
                <a:cubicBezTo>
                  <a:pt x="98405" y="304800"/>
                  <a:pt x="104775" y="298430"/>
                  <a:pt x="104775" y="290513"/>
                </a:cubicBezTo>
                <a:lnTo>
                  <a:pt x="104775" y="266700"/>
                </a:lnTo>
                <a:lnTo>
                  <a:pt x="138113" y="266700"/>
                </a:lnTo>
                <a:lnTo>
                  <a:pt x="138113" y="290513"/>
                </a:lnTo>
                <a:cubicBezTo>
                  <a:pt x="138113" y="298430"/>
                  <a:pt x="144482" y="304800"/>
                  <a:pt x="152400" y="304800"/>
                </a:cubicBezTo>
                <a:cubicBezTo>
                  <a:pt x="160318" y="304800"/>
                  <a:pt x="166688" y="298430"/>
                  <a:pt x="166688" y="290513"/>
                </a:cubicBezTo>
                <a:lnTo>
                  <a:pt x="166688" y="266700"/>
                </a:lnTo>
                <a:lnTo>
                  <a:pt x="200025" y="266700"/>
                </a:lnTo>
                <a:lnTo>
                  <a:pt x="200025" y="290513"/>
                </a:lnTo>
                <a:cubicBezTo>
                  <a:pt x="200025" y="298430"/>
                  <a:pt x="206395" y="304800"/>
                  <a:pt x="214313" y="304800"/>
                </a:cubicBezTo>
                <a:cubicBezTo>
                  <a:pt x="222230" y="304800"/>
                  <a:pt x="228600" y="298430"/>
                  <a:pt x="228600" y="290513"/>
                </a:cubicBezTo>
                <a:lnTo>
                  <a:pt x="228600" y="266700"/>
                </a:lnTo>
                <a:cubicBezTo>
                  <a:pt x="249615" y="266700"/>
                  <a:pt x="266700" y="249615"/>
                  <a:pt x="266700" y="228600"/>
                </a:cubicBezTo>
                <a:lnTo>
                  <a:pt x="290513" y="228600"/>
                </a:lnTo>
                <a:cubicBezTo>
                  <a:pt x="298430" y="228600"/>
                  <a:pt x="304800" y="222230"/>
                  <a:pt x="304800" y="214313"/>
                </a:cubicBezTo>
                <a:cubicBezTo>
                  <a:pt x="304800" y="206395"/>
                  <a:pt x="298430" y="200025"/>
                  <a:pt x="290513" y="200025"/>
                </a:cubicBezTo>
                <a:lnTo>
                  <a:pt x="266700" y="200025"/>
                </a:lnTo>
                <a:lnTo>
                  <a:pt x="266700" y="166688"/>
                </a:lnTo>
                <a:lnTo>
                  <a:pt x="290513" y="166688"/>
                </a:lnTo>
                <a:cubicBezTo>
                  <a:pt x="298430" y="166688"/>
                  <a:pt x="304800" y="160318"/>
                  <a:pt x="304800" y="152400"/>
                </a:cubicBezTo>
                <a:cubicBezTo>
                  <a:pt x="304800" y="144482"/>
                  <a:pt x="298430" y="138113"/>
                  <a:pt x="290513" y="138113"/>
                </a:cubicBezTo>
                <a:lnTo>
                  <a:pt x="266700" y="138113"/>
                </a:lnTo>
                <a:lnTo>
                  <a:pt x="266700" y="104775"/>
                </a:lnTo>
                <a:lnTo>
                  <a:pt x="290513" y="104775"/>
                </a:lnTo>
                <a:cubicBezTo>
                  <a:pt x="298430" y="104775"/>
                  <a:pt x="304800" y="98405"/>
                  <a:pt x="304800" y="90488"/>
                </a:cubicBezTo>
                <a:cubicBezTo>
                  <a:pt x="304800" y="82570"/>
                  <a:pt x="298430" y="76200"/>
                  <a:pt x="290513" y="76200"/>
                </a:cubicBezTo>
                <a:lnTo>
                  <a:pt x="266700" y="76200"/>
                </a:lnTo>
                <a:cubicBezTo>
                  <a:pt x="266700" y="55185"/>
                  <a:pt x="249615" y="38100"/>
                  <a:pt x="228600" y="38100"/>
                </a:cubicBezTo>
                <a:lnTo>
                  <a:pt x="228600" y="14288"/>
                </a:lnTo>
                <a:cubicBezTo>
                  <a:pt x="228600" y="6370"/>
                  <a:pt x="222230" y="0"/>
                  <a:pt x="214313" y="0"/>
                </a:cubicBezTo>
                <a:cubicBezTo>
                  <a:pt x="206395" y="0"/>
                  <a:pt x="200025" y="6370"/>
                  <a:pt x="200025" y="14288"/>
                </a:cubicBezTo>
                <a:lnTo>
                  <a:pt x="200025" y="38100"/>
                </a:lnTo>
                <a:lnTo>
                  <a:pt x="166688" y="38100"/>
                </a:lnTo>
                <a:lnTo>
                  <a:pt x="166688" y="14288"/>
                </a:lnTo>
                <a:cubicBezTo>
                  <a:pt x="166688" y="6370"/>
                  <a:pt x="160318" y="0"/>
                  <a:pt x="152400" y="0"/>
                </a:cubicBezTo>
                <a:cubicBezTo>
                  <a:pt x="144482" y="0"/>
                  <a:pt x="138113" y="6370"/>
                  <a:pt x="138113" y="14288"/>
                </a:cubicBezTo>
                <a:lnTo>
                  <a:pt x="138113" y="38100"/>
                </a:lnTo>
                <a:lnTo>
                  <a:pt x="104775" y="38100"/>
                </a:lnTo>
                <a:lnTo>
                  <a:pt x="104775" y="14288"/>
                </a:lnTo>
                <a:close/>
                <a:moveTo>
                  <a:pt x="95250" y="76200"/>
                </a:moveTo>
                <a:lnTo>
                  <a:pt x="209550" y="76200"/>
                </a:lnTo>
                <a:cubicBezTo>
                  <a:pt x="220087" y="76200"/>
                  <a:pt x="228600" y="84713"/>
                  <a:pt x="228600" y="95250"/>
                </a:cubicBezTo>
                <a:lnTo>
                  <a:pt x="228600" y="209550"/>
                </a:lnTo>
                <a:cubicBezTo>
                  <a:pt x="228600" y="220087"/>
                  <a:pt x="220087" y="228600"/>
                  <a:pt x="209550" y="228600"/>
                </a:cubicBezTo>
                <a:lnTo>
                  <a:pt x="95250" y="228600"/>
                </a:lnTo>
                <a:cubicBezTo>
                  <a:pt x="84713" y="228600"/>
                  <a:pt x="76200" y="220087"/>
                  <a:pt x="76200" y="209550"/>
                </a:cubicBezTo>
                <a:lnTo>
                  <a:pt x="76200" y="95250"/>
                </a:lnTo>
                <a:cubicBezTo>
                  <a:pt x="76200" y="84713"/>
                  <a:pt x="84713" y="76200"/>
                  <a:pt x="95250" y="76200"/>
                </a:cubicBezTo>
                <a:close/>
                <a:moveTo>
                  <a:pt x="104775" y="104775"/>
                </a:moveTo>
                <a:lnTo>
                  <a:pt x="104775" y="200025"/>
                </a:lnTo>
                <a:lnTo>
                  <a:pt x="200025" y="200025"/>
                </a:lnTo>
                <a:lnTo>
                  <a:pt x="200025" y="104775"/>
                </a:lnTo>
                <a:lnTo>
                  <a:pt x="104775" y="104775"/>
                </a:ln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19" name="Text 17"/>
          <p:cNvSpPr/>
          <p:nvPr/>
        </p:nvSpPr>
        <p:spPr>
          <a:xfrm>
            <a:off x="14224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 Usage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6000" y="51054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Per-container CPU utilization with 80% threshold alerts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08500" y="4445000"/>
            <a:ext cx="34925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508500" y="4445000"/>
            <a:ext cx="34925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3" name="Shape 21"/>
          <p:cNvSpPr/>
          <p:nvPr/>
        </p:nvSpPr>
        <p:spPr>
          <a:xfrm>
            <a:off x="4762500" y="4699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17085" y="38100"/>
                  <a:pt x="0" y="55185"/>
                  <a:pt x="0" y="76200"/>
                </a:cubicBezTo>
                <a:lnTo>
                  <a:pt x="0" y="80605"/>
                </a:lnTo>
                <a:cubicBezTo>
                  <a:pt x="0" y="84653"/>
                  <a:pt x="2619" y="88106"/>
                  <a:pt x="6013" y="90309"/>
                </a:cubicBezTo>
                <a:cubicBezTo>
                  <a:pt x="13871" y="95429"/>
                  <a:pt x="19050" y="104239"/>
                  <a:pt x="19050" y="114300"/>
                </a:cubicBezTo>
                <a:cubicBezTo>
                  <a:pt x="19050" y="124361"/>
                  <a:pt x="13871" y="133171"/>
                  <a:pt x="6013" y="138291"/>
                </a:cubicBezTo>
                <a:cubicBezTo>
                  <a:pt x="2619" y="140494"/>
                  <a:pt x="0" y="143947"/>
                  <a:pt x="0" y="147995"/>
                </a:cubicBezTo>
                <a:lnTo>
                  <a:pt x="0" y="180975"/>
                </a:lnTo>
                <a:lnTo>
                  <a:pt x="304800" y="180975"/>
                </a:lnTo>
                <a:lnTo>
                  <a:pt x="304800" y="147995"/>
                </a:lnTo>
                <a:cubicBezTo>
                  <a:pt x="304800" y="143947"/>
                  <a:pt x="302181" y="140494"/>
                  <a:pt x="298787" y="138291"/>
                </a:cubicBezTo>
                <a:cubicBezTo>
                  <a:pt x="290929" y="133171"/>
                  <a:pt x="285750" y="124361"/>
                  <a:pt x="285750" y="114300"/>
                </a:cubicBezTo>
                <a:cubicBezTo>
                  <a:pt x="285750" y="104239"/>
                  <a:pt x="290929" y="95429"/>
                  <a:pt x="298787" y="90309"/>
                </a:cubicBezTo>
                <a:cubicBezTo>
                  <a:pt x="302181" y="88106"/>
                  <a:pt x="304800" y="84653"/>
                  <a:pt x="304800" y="80605"/>
                </a:cubicBezTo>
                <a:lnTo>
                  <a:pt x="304800" y="76200"/>
                </a:lnTo>
                <a:cubicBezTo>
                  <a:pt x="304800" y="55185"/>
                  <a:pt x="287715" y="38100"/>
                  <a:pt x="266700" y="38100"/>
                </a:cubicBezTo>
                <a:lnTo>
                  <a:pt x="38100" y="38100"/>
                </a:lnTo>
                <a:close/>
                <a:moveTo>
                  <a:pt x="304800" y="247650"/>
                </a:moveTo>
                <a:lnTo>
                  <a:pt x="304800" y="209550"/>
                </a:lnTo>
                <a:lnTo>
                  <a:pt x="0" y="209550"/>
                </a:lnTo>
                <a:lnTo>
                  <a:pt x="0" y="247650"/>
                </a:lnTo>
                <a:cubicBezTo>
                  <a:pt x="0" y="258187"/>
                  <a:pt x="8513" y="266700"/>
                  <a:pt x="19050" y="266700"/>
                </a:cubicBezTo>
                <a:lnTo>
                  <a:pt x="57150" y="266700"/>
                </a:lnTo>
                <a:lnTo>
                  <a:pt x="57150" y="252413"/>
                </a:lnTo>
                <a:cubicBezTo>
                  <a:pt x="57150" y="244495"/>
                  <a:pt x="63520" y="238125"/>
                  <a:pt x="71438" y="238125"/>
                </a:cubicBezTo>
                <a:cubicBezTo>
                  <a:pt x="79355" y="238125"/>
                  <a:pt x="85725" y="244495"/>
                  <a:pt x="85725" y="252413"/>
                </a:cubicBezTo>
                <a:lnTo>
                  <a:pt x="85725" y="266700"/>
                </a:lnTo>
                <a:lnTo>
                  <a:pt x="138113" y="266700"/>
                </a:lnTo>
                <a:lnTo>
                  <a:pt x="138113" y="252413"/>
                </a:lnTo>
                <a:cubicBezTo>
                  <a:pt x="138113" y="244495"/>
                  <a:pt x="144482" y="238125"/>
                  <a:pt x="152400" y="238125"/>
                </a:cubicBezTo>
                <a:cubicBezTo>
                  <a:pt x="160318" y="238125"/>
                  <a:pt x="166688" y="244495"/>
                  <a:pt x="166688" y="252413"/>
                </a:cubicBezTo>
                <a:lnTo>
                  <a:pt x="166688" y="266700"/>
                </a:lnTo>
                <a:lnTo>
                  <a:pt x="219075" y="266700"/>
                </a:lnTo>
                <a:lnTo>
                  <a:pt x="219075" y="252413"/>
                </a:lnTo>
                <a:cubicBezTo>
                  <a:pt x="219075" y="244495"/>
                  <a:pt x="225445" y="238125"/>
                  <a:pt x="233363" y="238125"/>
                </a:cubicBezTo>
                <a:cubicBezTo>
                  <a:pt x="241280" y="238125"/>
                  <a:pt x="247650" y="244495"/>
                  <a:pt x="247650" y="252413"/>
                </a:cubicBezTo>
                <a:lnTo>
                  <a:pt x="247650" y="266700"/>
                </a:lnTo>
                <a:lnTo>
                  <a:pt x="285750" y="266700"/>
                </a:lnTo>
                <a:cubicBezTo>
                  <a:pt x="296287" y="266700"/>
                  <a:pt x="304800" y="258187"/>
                  <a:pt x="304800" y="247650"/>
                </a:cubicBezTo>
                <a:close/>
                <a:moveTo>
                  <a:pt x="95250" y="95250"/>
                </a:moveTo>
                <a:lnTo>
                  <a:pt x="95250" y="133350"/>
                </a:lnTo>
                <a:cubicBezTo>
                  <a:pt x="95250" y="143887"/>
                  <a:pt x="86737" y="152400"/>
                  <a:pt x="76200" y="152400"/>
                </a:cubicBezTo>
                <a:cubicBezTo>
                  <a:pt x="65663" y="152400"/>
                  <a:pt x="57150" y="143887"/>
                  <a:pt x="57150" y="133350"/>
                </a:cubicBezTo>
                <a:lnTo>
                  <a:pt x="57150" y="95250"/>
                </a:lnTo>
                <a:cubicBezTo>
                  <a:pt x="57150" y="84713"/>
                  <a:pt x="65663" y="76200"/>
                  <a:pt x="76200" y="76200"/>
                </a:cubicBezTo>
                <a:cubicBezTo>
                  <a:pt x="86737" y="76200"/>
                  <a:pt x="95250" y="84713"/>
                  <a:pt x="95250" y="95250"/>
                </a:cubicBezTo>
                <a:close/>
                <a:moveTo>
                  <a:pt x="171450" y="95250"/>
                </a:moveTo>
                <a:lnTo>
                  <a:pt x="171450" y="133350"/>
                </a:lnTo>
                <a:cubicBezTo>
                  <a:pt x="171450" y="143887"/>
                  <a:pt x="162937" y="152400"/>
                  <a:pt x="152400" y="152400"/>
                </a:cubicBezTo>
                <a:cubicBezTo>
                  <a:pt x="141863" y="152400"/>
                  <a:pt x="133350" y="143887"/>
                  <a:pt x="133350" y="133350"/>
                </a:cubicBezTo>
                <a:lnTo>
                  <a:pt x="133350" y="95250"/>
                </a:lnTo>
                <a:cubicBezTo>
                  <a:pt x="133350" y="84713"/>
                  <a:pt x="141863" y="76200"/>
                  <a:pt x="152400" y="76200"/>
                </a:cubicBezTo>
                <a:cubicBezTo>
                  <a:pt x="162937" y="76200"/>
                  <a:pt x="171450" y="84713"/>
                  <a:pt x="171450" y="95250"/>
                </a:cubicBezTo>
                <a:close/>
                <a:moveTo>
                  <a:pt x="247650" y="95250"/>
                </a:moveTo>
                <a:lnTo>
                  <a:pt x="247650" y="133350"/>
                </a:lnTo>
                <a:cubicBezTo>
                  <a:pt x="247650" y="143887"/>
                  <a:pt x="239137" y="152400"/>
                  <a:pt x="228600" y="152400"/>
                </a:cubicBezTo>
                <a:cubicBezTo>
                  <a:pt x="218063" y="152400"/>
                  <a:pt x="209550" y="143887"/>
                  <a:pt x="209550" y="133350"/>
                </a:cubicBezTo>
                <a:lnTo>
                  <a:pt x="209550" y="95250"/>
                </a:lnTo>
                <a:cubicBezTo>
                  <a:pt x="209550" y="84713"/>
                  <a:pt x="218063" y="76200"/>
                  <a:pt x="228600" y="76200"/>
                </a:cubicBezTo>
                <a:cubicBezTo>
                  <a:pt x="239137" y="76200"/>
                  <a:pt x="247650" y="84713"/>
                  <a:pt x="247650" y="95250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51689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 Usage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62500" y="51054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Heap and off-heap consumption per microservice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255000" y="4445000"/>
            <a:ext cx="34925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255000" y="4445000"/>
            <a:ext cx="34925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489950" y="4699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47638" y="52388"/>
                </a:moveTo>
                <a:lnTo>
                  <a:pt x="195263" y="52388"/>
                </a:lnTo>
                <a:lnTo>
                  <a:pt x="195263" y="80962"/>
                </a:lnTo>
                <a:lnTo>
                  <a:pt x="147638" y="80962"/>
                </a:lnTo>
                <a:lnTo>
                  <a:pt x="147638" y="52388"/>
                </a:lnTo>
                <a:close/>
                <a:moveTo>
                  <a:pt x="142875" y="19050"/>
                </a:moveTo>
                <a:cubicBezTo>
                  <a:pt x="127099" y="19050"/>
                  <a:pt x="114300" y="31849"/>
                  <a:pt x="114300" y="47625"/>
                </a:cubicBezTo>
                <a:lnTo>
                  <a:pt x="114300" y="85725"/>
                </a:lnTo>
                <a:cubicBezTo>
                  <a:pt x="114300" y="101501"/>
                  <a:pt x="127099" y="114300"/>
                  <a:pt x="142875" y="114300"/>
                </a:cubicBezTo>
                <a:lnTo>
                  <a:pt x="152400" y="114300"/>
                </a:lnTo>
                <a:lnTo>
                  <a:pt x="152400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76200" y="171450"/>
                </a:lnTo>
                <a:lnTo>
                  <a:pt x="76200" y="190500"/>
                </a:lnTo>
                <a:lnTo>
                  <a:pt x="66675" y="190500"/>
                </a:lnTo>
                <a:cubicBezTo>
                  <a:pt x="50899" y="190500"/>
                  <a:pt x="38100" y="203299"/>
                  <a:pt x="38100" y="219075"/>
                </a:cubicBezTo>
                <a:lnTo>
                  <a:pt x="38100" y="257175"/>
                </a:lnTo>
                <a:cubicBezTo>
                  <a:pt x="38100" y="272951"/>
                  <a:pt x="50899" y="285750"/>
                  <a:pt x="66675" y="285750"/>
                </a:cubicBezTo>
                <a:lnTo>
                  <a:pt x="123825" y="285750"/>
                </a:lnTo>
                <a:cubicBezTo>
                  <a:pt x="139601" y="285750"/>
                  <a:pt x="152400" y="272951"/>
                  <a:pt x="152400" y="257175"/>
                </a:cubicBezTo>
                <a:lnTo>
                  <a:pt x="152400" y="219075"/>
                </a:lnTo>
                <a:cubicBezTo>
                  <a:pt x="152400" y="203299"/>
                  <a:pt x="139601" y="190500"/>
                  <a:pt x="123825" y="190500"/>
                </a:cubicBezTo>
                <a:lnTo>
                  <a:pt x="114300" y="190500"/>
                </a:lnTo>
                <a:lnTo>
                  <a:pt x="114300" y="171450"/>
                </a:lnTo>
                <a:lnTo>
                  <a:pt x="228600" y="171450"/>
                </a:lnTo>
                <a:lnTo>
                  <a:pt x="228600" y="190500"/>
                </a:lnTo>
                <a:lnTo>
                  <a:pt x="219075" y="190500"/>
                </a:lnTo>
                <a:cubicBezTo>
                  <a:pt x="203299" y="190500"/>
                  <a:pt x="190500" y="203299"/>
                  <a:pt x="190500" y="219075"/>
                </a:cubicBezTo>
                <a:lnTo>
                  <a:pt x="190500" y="257175"/>
                </a:lnTo>
                <a:cubicBezTo>
                  <a:pt x="190500" y="272951"/>
                  <a:pt x="203299" y="285750"/>
                  <a:pt x="219075" y="285750"/>
                </a:cubicBezTo>
                <a:lnTo>
                  <a:pt x="276225" y="285750"/>
                </a:lnTo>
                <a:cubicBezTo>
                  <a:pt x="292001" y="285750"/>
                  <a:pt x="304800" y="272951"/>
                  <a:pt x="304800" y="257175"/>
                </a:cubicBezTo>
                <a:lnTo>
                  <a:pt x="304800" y="219075"/>
                </a:lnTo>
                <a:cubicBezTo>
                  <a:pt x="304800" y="203299"/>
                  <a:pt x="292001" y="190500"/>
                  <a:pt x="276225" y="190500"/>
                </a:cubicBezTo>
                <a:lnTo>
                  <a:pt x="266700" y="190500"/>
                </a:lnTo>
                <a:lnTo>
                  <a:pt x="266700" y="171450"/>
                </a:lnTo>
                <a:lnTo>
                  <a:pt x="323850" y="171450"/>
                </a:lnTo>
                <a:cubicBezTo>
                  <a:pt x="334387" y="171450"/>
                  <a:pt x="342900" y="162937"/>
                  <a:pt x="342900" y="152400"/>
                </a:cubicBezTo>
                <a:cubicBezTo>
                  <a:pt x="342900" y="141863"/>
                  <a:pt x="334387" y="133350"/>
                  <a:pt x="323850" y="133350"/>
                </a:cubicBezTo>
                <a:lnTo>
                  <a:pt x="190500" y="133350"/>
                </a:lnTo>
                <a:lnTo>
                  <a:pt x="190500" y="114300"/>
                </a:lnTo>
                <a:lnTo>
                  <a:pt x="200025" y="114300"/>
                </a:lnTo>
                <a:cubicBezTo>
                  <a:pt x="215801" y="114300"/>
                  <a:pt x="228600" y="101501"/>
                  <a:pt x="228600" y="85725"/>
                </a:cubicBezTo>
                <a:lnTo>
                  <a:pt x="228600" y="47625"/>
                </a:lnTo>
                <a:cubicBezTo>
                  <a:pt x="228600" y="31849"/>
                  <a:pt x="215801" y="19050"/>
                  <a:pt x="200025" y="19050"/>
                </a:cubicBezTo>
                <a:lnTo>
                  <a:pt x="142875" y="19050"/>
                </a:lnTo>
                <a:close/>
                <a:moveTo>
                  <a:pt x="266700" y="223838"/>
                </a:moveTo>
                <a:lnTo>
                  <a:pt x="271463" y="223838"/>
                </a:lnTo>
                <a:lnTo>
                  <a:pt x="271463" y="252413"/>
                </a:lnTo>
                <a:lnTo>
                  <a:pt x="223838" y="252413"/>
                </a:lnTo>
                <a:lnTo>
                  <a:pt x="223838" y="223838"/>
                </a:lnTo>
                <a:lnTo>
                  <a:pt x="266700" y="223838"/>
                </a:lnTo>
                <a:close/>
                <a:moveTo>
                  <a:pt x="114300" y="223838"/>
                </a:moveTo>
                <a:lnTo>
                  <a:pt x="119062" y="223838"/>
                </a:lnTo>
                <a:lnTo>
                  <a:pt x="119062" y="252413"/>
                </a:lnTo>
                <a:lnTo>
                  <a:pt x="71438" y="252413"/>
                </a:lnTo>
                <a:lnTo>
                  <a:pt x="71438" y="223838"/>
                </a:lnTo>
                <a:lnTo>
                  <a:pt x="114300" y="223838"/>
                </a:ln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9" name="Text 27"/>
          <p:cNvSpPr/>
          <p:nvPr/>
        </p:nvSpPr>
        <p:spPr>
          <a:xfrm>
            <a:off x="89154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Network I/O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509000" y="51054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Ingress/egress throughput across RabbitMQ and REST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2001500" y="4445000"/>
            <a:ext cx="3492500" cy="1397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12001500" y="4445000"/>
            <a:ext cx="3492500" cy="508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33" name="Shape 31"/>
          <p:cNvSpPr/>
          <p:nvPr/>
        </p:nvSpPr>
        <p:spPr>
          <a:xfrm>
            <a:off x="12274550" y="469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154841"/>
                </a:lnTo>
                <a:cubicBezTo>
                  <a:pt x="10775" y="147280"/>
                  <a:pt x="23932" y="142875"/>
                  <a:pt x="38100" y="142875"/>
                </a:cubicBezTo>
                <a:lnTo>
                  <a:pt x="228600" y="142875"/>
                </a:lnTo>
                <a:cubicBezTo>
                  <a:pt x="242768" y="142875"/>
                  <a:pt x="255925" y="147280"/>
                  <a:pt x="266700" y="154841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266700" y="209550"/>
                </a:moveTo>
                <a:cubicBezTo>
                  <a:pt x="266700" y="188535"/>
                  <a:pt x="249615" y="171450"/>
                  <a:pt x="228600" y="171450"/>
                </a:cubicBezTo>
                <a:lnTo>
                  <a:pt x="38100" y="171450"/>
                </a:lnTo>
                <a:cubicBezTo>
                  <a:pt x="17085" y="171450"/>
                  <a:pt x="0" y="188535"/>
                  <a:pt x="0" y="2095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209550"/>
                </a:lnTo>
                <a:close/>
                <a:moveTo>
                  <a:pt x="133350" y="228600"/>
                </a:moveTo>
                <a:cubicBezTo>
                  <a:pt x="133350" y="218086"/>
                  <a:pt x="141886" y="209550"/>
                  <a:pt x="152400" y="209550"/>
                </a:cubicBezTo>
                <a:cubicBezTo>
                  <a:pt x="162914" y="209550"/>
                  <a:pt x="171450" y="218086"/>
                  <a:pt x="171450" y="228600"/>
                </a:cubicBezTo>
                <a:cubicBezTo>
                  <a:pt x="171450" y="239114"/>
                  <a:pt x="162914" y="247650"/>
                  <a:pt x="152400" y="247650"/>
                </a:cubicBezTo>
                <a:cubicBezTo>
                  <a:pt x="141886" y="247650"/>
                  <a:pt x="133350" y="239114"/>
                  <a:pt x="133350" y="228600"/>
                </a:cubicBezTo>
                <a:close/>
                <a:moveTo>
                  <a:pt x="209550" y="209550"/>
                </a:moveTo>
                <a:cubicBezTo>
                  <a:pt x="220064" y="209550"/>
                  <a:pt x="228600" y="218086"/>
                  <a:pt x="228600" y="228600"/>
                </a:cubicBezTo>
                <a:cubicBezTo>
                  <a:pt x="228600" y="239114"/>
                  <a:pt x="220064" y="247650"/>
                  <a:pt x="209550" y="247650"/>
                </a:cubicBezTo>
                <a:cubicBezTo>
                  <a:pt x="199036" y="247650"/>
                  <a:pt x="190500" y="239114"/>
                  <a:pt x="190500" y="228600"/>
                </a:cubicBezTo>
                <a:cubicBezTo>
                  <a:pt x="190500" y="218086"/>
                  <a:pt x="199036" y="209550"/>
                  <a:pt x="209550" y="209550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34" name="Text 32"/>
          <p:cNvSpPr/>
          <p:nvPr/>
        </p:nvSpPr>
        <p:spPr>
          <a:xfrm>
            <a:off x="12661900" y="46736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Disk &amp; Health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255500" y="5105400"/>
            <a:ext cx="2984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 utilization and Spring Boot actuator health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62000" y="6159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Verification Status</a:t>
            </a:r>
            <a:endParaRPr lang="en-US" sz="2200" dirty="0"/>
          </a:p>
        </p:txBody>
      </p:sp>
      <p:sp>
        <p:nvSpPr>
          <p:cNvPr id="37" name="Shape 35"/>
          <p:cNvSpPr/>
          <p:nvPr/>
        </p:nvSpPr>
        <p:spPr>
          <a:xfrm>
            <a:off x="762000" y="6667500"/>
            <a:ext cx="14732000" cy="1778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8" name="Text 36"/>
          <p:cNvSpPr/>
          <p:nvPr/>
        </p:nvSpPr>
        <p:spPr>
          <a:xfrm>
            <a:off x="1079500" y="6794500"/>
            <a:ext cx="14097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All BorderWatch services verified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UP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Prometheus dashboard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Main page health check endpoint returning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200 OK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Service metrics actively scraped and visible in Grafana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Jenkins pipeline builds passing with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94.9% code coverage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07442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8" name="Text 6"/>
          <p:cNvSpPr/>
          <p:nvPr/>
        </p:nvSpPr>
        <p:spPr>
          <a:xfrm>
            <a:off x="130048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Deployment Architecture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762000" y="14224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Docker Compose — 13 Containers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62000" y="18796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Multi-stage builds with non-root UID 1001 for security. Health checks on all services. Container orchestration includes: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Spring Boot microservice containers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React SPA served via Nginx (reverse proxy + least_conn LB)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RabbitMQ 3.13, MySQL 8, Prometheus, Grafana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Jenkins LTS, Ansible control node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2000" y="1422400"/>
            <a:ext cx="711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Kubernetes Production Deployment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82000" y="18796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Production-ready Kubernetes manifests with enterprise patterns: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HPA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(Horizontal Pod Autoscaler) for dynamic scaling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PDB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(Pod Disruption Budget) for availability guarantees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Rolling updates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zero-downtime deployments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500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5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Ansible playbooks</a:t>
            </a:r>
            <a:pPr>
              <a:lnSpc>
                <a:spcPct val="155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Infrastructure as Code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4381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Deployment View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2000" y="4889500"/>
            <a:ext cx="2794000" cy="1143000"/>
          </a:xfrm>
          <a:prstGeom prst="rect">
            <a:avLst/>
          </a:prstGeom>
          <a:solidFill>
            <a:srgbClr val="2E7D6F"/>
          </a:solidFill>
          <a:ln/>
        </p:spPr>
      </p:sp>
      <p:sp>
        <p:nvSpPr>
          <p:cNvPr id="17" name="Text 15"/>
          <p:cNvSpPr/>
          <p:nvPr/>
        </p:nvSpPr>
        <p:spPr>
          <a:xfrm>
            <a:off x="762000" y="4889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Nginx Gateway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Reverse Proxy + LB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556000" y="5461000"/>
            <a:ext cx="508000" cy="0"/>
          </a:xfrm>
          <a:prstGeom prst="straightConnector1">
            <a:avLst/>
          </a:prstGeom>
          <a:noFill/>
          <a:ln w="25400">
            <a:solidFill>
              <a:srgbClr val="C8962E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4064000" y="4889500"/>
            <a:ext cx="2794000" cy="1143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20" name="Text 18"/>
          <p:cNvSpPr/>
          <p:nvPr/>
        </p:nvSpPr>
        <p:spPr>
          <a:xfrm>
            <a:off x="4064000" y="48895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SPA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TypeScript + Vite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064000" y="6223000"/>
            <a:ext cx="2794000" cy="1143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2" name="Text 20"/>
          <p:cNvSpPr/>
          <p:nvPr/>
        </p:nvSpPr>
        <p:spPr>
          <a:xfrm>
            <a:off x="4064000" y="6223000"/>
            <a:ext cx="279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GPS Beacons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X-API-Key Auth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858000" y="5461000"/>
            <a:ext cx="508000" cy="0"/>
          </a:xfrm>
          <a:prstGeom prst="straightConnector1">
            <a:avLst/>
          </a:prstGeom>
          <a:noFill/>
          <a:ln w="25400">
            <a:solidFill>
              <a:srgbClr val="C8962E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366000" y="4635500"/>
            <a:ext cx="2286000" cy="889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5" name="Text 23"/>
          <p:cNvSpPr/>
          <p:nvPr/>
        </p:nvSpPr>
        <p:spPr>
          <a:xfrm>
            <a:off x="7366000" y="4635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Ingestion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366000" y="5651500"/>
            <a:ext cx="2286000" cy="889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7" name="Text 25"/>
          <p:cNvSpPr/>
          <p:nvPr/>
        </p:nvSpPr>
        <p:spPr>
          <a:xfrm>
            <a:off x="7366000" y="5651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Tracking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366000" y="6667500"/>
            <a:ext cx="2286000" cy="8890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9" name="Text 27"/>
          <p:cNvSpPr/>
          <p:nvPr/>
        </p:nvSpPr>
        <p:spPr>
          <a:xfrm>
            <a:off x="7366000" y="6667500"/>
            <a:ext cx="228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Compliance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Spring Boot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52000" y="5461000"/>
            <a:ext cx="508000" cy="0"/>
          </a:xfrm>
          <a:prstGeom prst="straightConnector1">
            <a:avLst/>
          </a:prstGeom>
          <a:noFill/>
          <a:ln w="25400">
            <a:solidFill>
              <a:srgbClr val="C8962E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0160000" y="4762500"/>
            <a:ext cx="2540000" cy="889000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32" name="Text 30"/>
          <p:cNvSpPr/>
          <p:nvPr/>
        </p:nvSpPr>
        <p:spPr>
          <a:xfrm>
            <a:off x="10160000" y="4762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RabbitMQ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Topic Exchange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160000" y="5778500"/>
            <a:ext cx="2540000" cy="889000"/>
          </a:xfrm>
          <a:prstGeom prst="rect">
            <a:avLst/>
          </a:prstGeom>
          <a:solidFill>
            <a:srgbClr val="6B4C8A"/>
          </a:solidFill>
          <a:ln/>
        </p:spPr>
      </p:sp>
      <p:sp>
        <p:nvSpPr>
          <p:cNvPr id="34" name="Text 32"/>
          <p:cNvSpPr/>
          <p:nvPr/>
        </p:nvSpPr>
        <p:spPr>
          <a:xfrm>
            <a:off x="10160000" y="5778500"/>
            <a:ext cx="254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MySQL 8 / TiDB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Persistence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2700000" y="5080000"/>
            <a:ext cx="508000" cy="0"/>
          </a:xfrm>
          <a:prstGeom prst="straightConnector1">
            <a:avLst/>
          </a:prstGeom>
          <a:noFill/>
          <a:ln w="25400">
            <a:solidFill>
              <a:srgbClr val="C8962E"/>
            </a:solidFill>
            <a:prstDash val="solid"/>
            <a:headEnd type="none"/>
            <a:tailEnd type="arrow"/>
          </a:ln>
        </p:spPr>
      </p:sp>
      <p:sp>
        <p:nvSpPr>
          <p:cNvPr id="36" name="Shape 34"/>
          <p:cNvSpPr/>
          <p:nvPr/>
        </p:nvSpPr>
        <p:spPr>
          <a:xfrm>
            <a:off x="13208000" y="4635500"/>
            <a:ext cx="2286000" cy="2032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7" name="Text 35"/>
          <p:cNvSpPr/>
          <p:nvPr/>
        </p:nvSpPr>
        <p:spPr>
          <a:xfrm>
            <a:off x="13208000" y="4635500"/>
            <a:ext cx="2286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2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Observability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Prometheus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Grafana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2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Jenkins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62000" y="7810500"/>
            <a:ext cx="14732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Scrum workflow tracked on Trello: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Product backlog → Sprint backlog → In-progress → Review → Done. Both failed and successful CI/CD pipelines documented with console outputs. All services verified running with health checks.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19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lot.dhl.com/be515c73cd7d9c790a7b6123ca4f3ce0812b7f6a.jpg">    </p:cNvPr>
          <p:cNvPicPr>
            <a:picLocks noChangeAspect="1"/>
          </p:cNvPicPr>
          <p:nvPr/>
        </p:nvPicPr>
        <p:blipFill>
          <a:blip r:embed="rId1"/>
          <a:srcRect l="24333" r="24333" t="0" b="0"/>
          <a:stretch/>
        </p:blipFill>
        <p:spPr>
          <a:xfrm>
            <a:off x="7315200" y="0"/>
            <a:ext cx="89408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315200" y="0"/>
            <a:ext cx="8940800" cy="9144000"/>
          </a:xfrm>
          <a:prstGeom prst="rect">
            <a:avLst/>
          </a:prstGeom>
          <a:gradFill rotWithShape="1" flip="none">
            <a:gsLst>
              <a:gs pos="0">
                <a:srgbClr val="1B2A3D"/>
              </a:gs>
              <a:gs pos="30000">
                <a:srgbClr val="1B2A3D">
                  <a:alpha val="73000"/>
                </a:srgbClr>
              </a:gs>
              <a:gs pos="100000">
                <a:srgbClr val="1B2A3D">
                  <a:alpha val="20000"/>
                </a:srgbClr>
              </a:gs>
            </a:gsLst>
            <a:lin ang="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762000" y="2540000"/>
            <a:ext cx="3175000" cy="1143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2"/>
          <p:cNvSpPr/>
          <p:nvPr/>
        </p:nvSpPr>
        <p:spPr>
          <a:xfrm>
            <a:off x="762000" y="38735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4127500"/>
            <a:ext cx="609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2000" y="4953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innovations, achievements, and recommendations for future work.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9954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Key Innovations &amp; Achievements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Shape 9"/>
          <p:cNvSpPr/>
          <p:nvPr/>
        </p:nvSpPr>
        <p:spPr>
          <a:xfrm>
            <a:off x="762000" y="1460500"/>
            <a:ext cx="7112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762000" y="1460500"/>
            <a:ext cx="50800" cy="1905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1625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83344" y="38894"/>
                </a:moveTo>
                <a:cubicBezTo>
                  <a:pt x="83344" y="17433"/>
                  <a:pt x="100776" y="0"/>
                  <a:pt x="122238" y="0"/>
                </a:cubicBezTo>
                <a:lnTo>
                  <a:pt x="138906" y="0"/>
                </a:lnTo>
                <a:cubicBezTo>
                  <a:pt x="151199" y="0"/>
                  <a:pt x="161131" y="9932"/>
                  <a:pt x="161131" y="22225"/>
                </a:cubicBezTo>
                <a:lnTo>
                  <a:pt x="161131" y="333375"/>
                </a:lnTo>
                <a:cubicBezTo>
                  <a:pt x="161131" y="345668"/>
                  <a:pt x="151199" y="355600"/>
                  <a:pt x="138906" y="355600"/>
                </a:cubicBezTo>
                <a:lnTo>
                  <a:pt x="116681" y="355600"/>
                </a:lnTo>
                <a:cubicBezTo>
                  <a:pt x="95984" y="355600"/>
                  <a:pt x="78551" y="341432"/>
                  <a:pt x="73620" y="322263"/>
                </a:cubicBezTo>
                <a:cubicBezTo>
                  <a:pt x="73134" y="322263"/>
                  <a:pt x="72717" y="322263"/>
                  <a:pt x="72231" y="322263"/>
                </a:cubicBezTo>
                <a:cubicBezTo>
                  <a:pt x="41533" y="322263"/>
                  <a:pt x="16669" y="297398"/>
                  <a:pt x="16669" y="266700"/>
                </a:cubicBezTo>
                <a:cubicBezTo>
                  <a:pt x="16669" y="254198"/>
                  <a:pt x="20836" y="242669"/>
                  <a:pt x="27781" y="233363"/>
                </a:cubicBezTo>
                <a:cubicBezTo>
                  <a:pt x="14307" y="223222"/>
                  <a:pt x="5556" y="207109"/>
                  <a:pt x="5556" y="188913"/>
                </a:cubicBezTo>
                <a:cubicBezTo>
                  <a:pt x="5556" y="167451"/>
                  <a:pt x="17780" y="148769"/>
                  <a:pt x="35560" y="139531"/>
                </a:cubicBezTo>
                <a:cubicBezTo>
                  <a:pt x="30629" y="131197"/>
                  <a:pt x="27781" y="121474"/>
                  <a:pt x="27781" y="111125"/>
                </a:cubicBezTo>
                <a:cubicBezTo>
                  <a:pt x="27781" y="80427"/>
                  <a:pt x="52645" y="55563"/>
                  <a:pt x="83344" y="55563"/>
                </a:cubicBezTo>
                <a:lnTo>
                  <a:pt x="83344" y="38894"/>
                </a:lnTo>
                <a:close/>
                <a:moveTo>
                  <a:pt x="272256" y="38894"/>
                </a:moveTo>
                <a:lnTo>
                  <a:pt x="272256" y="55563"/>
                </a:lnTo>
                <a:cubicBezTo>
                  <a:pt x="302955" y="55563"/>
                  <a:pt x="327819" y="80427"/>
                  <a:pt x="327819" y="111125"/>
                </a:cubicBezTo>
                <a:cubicBezTo>
                  <a:pt x="327819" y="121543"/>
                  <a:pt x="324971" y="131266"/>
                  <a:pt x="320040" y="139531"/>
                </a:cubicBezTo>
                <a:cubicBezTo>
                  <a:pt x="337889" y="148769"/>
                  <a:pt x="350044" y="167382"/>
                  <a:pt x="350044" y="188913"/>
                </a:cubicBezTo>
                <a:cubicBezTo>
                  <a:pt x="350044" y="207109"/>
                  <a:pt x="341293" y="223222"/>
                  <a:pt x="327819" y="233363"/>
                </a:cubicBezTo>
                <a:cubicBezTo>
                  <a:pt x="334764" y="242669"/>
                  <a:pt x="338931" y="254198"/>
                  <a:pt x="338931" y="266700"/>
                </a:cubicBezTo>
                <a:cubicBezTo>
                  <a:pt x="338931" y="297398"/>
                  <a:pt x="314067" y="322263"/>
                  <a:pt x="283369" y="322263"/>
                </a:cubicBezTo>
                <a:cubicBezTo>
                  <a:pt x="282883" y="322263"/>
                  <a:pt x="282466" y="322263"/>
                  <a:pt x="281980" y="322263"/>
                </a:cubicBezTo>
                <a:cubicBezTo>
                  <a:pt x="277049" y="341432"/>
                  <a:pt x="259616" y="355600"/>
                  <a:pt x="238919" y="355600"/>
                </a:cubicBezTo>
                <a:lnTo>
                  <a:pt x="216694" y="355600"/>
                </a:lnTo>
                <a:cubicBezTo>
                  <a:pt x="204401" y="355600"/>
                  <a:pt x="194469" y="345668"/>
                  <a:pt x="194469" y="333375"/>
                </a:cubicBezTo>
                <a:lnTo>
                  <a:pt x="194469" y="22225"/>
                </a:lnTo>
                <a:cubicBezTo>
                  <a:pt x="194469" y="9932"/>
                  <a:pt x="204401" y="0"/>
                  <a:pt x="216694" y="0"/>
                </a:cubicBezTo>
                <a:lnTo>
                  <a:pt x="233363" y="0"/>
                </a:lnTo>
                <a:cubicBezTo>
                  <a:pt x="254824" y="0"/>
                  <a:pt x="272256" y="17433"/>
                  <a:pt x="272256" y="38894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1498600" y="15875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 Multi-Factor Risk Scoring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16000" y="20574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Z-score + IQR + Kalman filter anomaly detection produces 0-100 risk score per truck with cargo type multiplier. Enables intelligent inspection prioritization.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1460500"/>
            <a:ext cx="7112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1460500"/>
            <a:ext cx="50800" cy="1905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8" name="Shape 16"/>
          <p:cNvSpPr/>
          <p:nvPr/>
        </p:nvSpPr>
        <p:spPr>
          <a:xfrm>
            <a:off x="8613775" y="16256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19" name="Text 17"/>
          <p:cNvSpPr/>
          <p:nvPr/>
        </p:nvSpPr>
        <p:spPr>
          <a:xfrm>
            <a:off x="9118600" y="15875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Blockchain Audit Trail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36000" y="20574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Merkle tree structure with court-admissible certificates. verifyChain() detects any tampering. Genesis block anchored with '0' x 64 hash. Immutable chain guarantees evidence integrity.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3556000"/>
            <a:ext cx="7112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762000" y="3556000"/>
            <a:ext cx="50800" cy="1905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3" name="Shape 21"/>
          <p:cNvSpPr/>
          <p:nvPr/>
        </p:nvSpPr>
        <p:spPr>
          <a:xfrm>
            <a:off x="971550" y="3721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400050" y="33337"/>
                </a:moveTo>
                <a:cubicBezTo>
                  <a:pt x="400050" y="25628"/>
                  <a:pt x="396091" y="18475"/>
                  <a:pt x="389493" y="14446"/>
                </a:cubicBezTo>
                <a:cubicBezTo>
                  <a:pt x="382895" y="10418"/>
                  <a:pt x="374769" y="10001"/>
                  <a:pt x="367893" y="13474"/>
                </a:cubicBezTo>
                <a:lnTo>
                  <a:pt x="287189" y="53826"/>
                </a:lnTo>
                <a:lnTo>
                  <a:pt x="162590" y="12224"/>
                </a:lnTo>
                <a:cubicBezTo>
                  <a:pt x="156964" y="10349"/>
                  <a:pt x="150922" y="10765"/>
                  <a:pt x="145643" y="13404"/>
                </a:cubicBezTo>
                <a:lnTo>
                  <a:pt x="56743" y="57854"/>
                </a:lnTo>
                <a:cubicBezTo>
                  <a:pt x="49173" y="61674"/>
                  <a:pt x="44450" y="69384"/>
                  <a:pt x="44450" y="77788"/>
                </a:cubicBezTo>
                <a:lnTo>
                  <a:pt x="44450" y="322263"/>
                </a:lnTo>
                <a:cubicBezTo>
                  <a:pt x="44450" y="329972"/>
                  <a:pt x="48409" y="337125"/>
                  <a:pt x="55007" y="341154"/>
                </a:cubicBezTo>
                <a:cubicBezTo>
                  <a:pt x="61605" y="345182"/>
                  <a:pt x="69731" y="345599"/>
                  <a:pt x="76607" y="342126"/>
                </a:cubicBezTo>
                <a:lnTo>
                  <a:pt x="157242" y="301774"/>
                </a:lnTo>
                <a:lnTo>
                  <a:pt x="277604" y="341918"/>
                </a:lnTo>
                <a:cubicBezTo>
                  <a:pt x="274618" y="337473"/>
                  <a:pt x="271701" y="332819"/>
                  <a:pt x="268853" y="328097"/>
                </a:cubicBezTo>
                <a:cubicBezTo>
                  <a:pt x="261213" y="315387"/>
                  <a:pt x="253643" y="300801"/>
                  <a:pt x="248017" y="285175"/>
                </a:cubicBezTo>
                <a:lnTo>
                  <a:pt x="177731" y="261769"/>
                </a:lnTo>
                <a:lnTo>
                  <a:pt x="177731" y="64175"/>
                </a:lnTo>
                <a:lnTo>
                  <a:pt x="266631" y="93831"/>
                </a:lnTo>
                <a:lnTo>
                  <a:pt x="266631" y="162798"/>
                </a:lnTo>
                <a:cubicBezTo>
                  <a:pt x="288161" y="137934"/>
                  <a:pt x="320109" y="122238"/>
                  <a:pt x="355531" y="122238"/>
                </a:cubicBezTo>
                <a:cubicBezTo>
                  <a:pt x="371227" y="122238"/>
                  <a:pt x="386229" y="125293"/>
                  <a:pt x="399981" y="130919"/>
                </a:cubicBezTo>
                <a:lnTo>
                  <a:pt x="400050" y="33337"/>
                </a:lnTo>
                <a:close/>
                <a:moveTo>
                  <a:pt x="355600" y="155575"/>
                </a:moveTo>
                <a:cubicBezTo>
                  <a:pt x="309553" y="155575"/>
                  <a:pt x="272256" y="192246"/>
                  <a:pt x="272256" y="237460"/>
                </a:cubicBezTo>
                <a:cubicBezTo>
                  <a:pt x="272256" y="285313"/>
                  <a:pt x="316776" y="341918"/>
                  <a:pt x="340737" y="368935"/>
                </a:cubicBezTo>
                <a:cubicBezTo>
                  <a:pt x="348794" y="377964"/>
                  <a:pt x="362476" y="377964"/>
                  <a:pt x="370532" y="368935"/>
                </a:cubicBezTo>
                <a:cubicBezTo>
                  <a:pt x="394494" y="341918"/>
                  <a:pt x="439013" y="285313"/>
                  <a:pt x="439013" y="237460"/>
                </a:cubicBezTo>
                <a:cubicBezTo>
                  <a:pt x="439013" y="192246"/>
                  <a:pt x="401717" y="155575"/>
                  <a:pt x="355669" y="155575"/>
                </a:cubicBezTo>
                <a:close/>
                <a:moveTo>
                  <a:pt x="327819" y="238919"/>
                </a:moveTo>
                <a:cubicBezTo>
                  <a:pt x="327819" y="223586"/>
                  <a:pt x="340267" y="211138"/>
                  <a:pt x="355600" y="211138"/>
                </a:cubicBezTo>
                <a:cubicBezTo>
                  <a:pt x="370933" y="211138"/>
                  <a:pt x="383381" y="223586"/>
                  <a:pt x="383381" y="238919"/>
                </a:cubicBezTo>
                <a:cubicBezTo>
                  <a:pt x="383381" y="254252"/>
                  <a:pt x="370933" y="266700"/>
                  <a:pt x="355600" y="266700"/>
                </a:cubicBezTo>
                <a:cubicBezTo>
                  <a:pt x="340267" y="266700"/>
                  <a:pt x="327819" y="254252"/>
                  <a:pt x="327819" y="238919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3683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React-Leaflet Geospatial Corridor Map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016000" y="41529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Interactive CEMAC corridor visualization with OpenStreetMap tiles. Real-time truck positions overlaid on Douala-N'Djamena and Douala-Bangui routes. Live violation markers with severity indicators.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382000" y="3556000"/>
            <a:ext cx="7112000" cy="1905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8382000" y="3556000"/>
            <a:ext cx="50800" cy="1905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8" name="Shape 26"/>
          <p:cNvSpPr/>
          <p:nvPr/>
        </p:nvSpPr>
        <p:spPr>
          <a:xfrm>
            <a:off x="8591550" y="37211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244475" y="0"/>
                </a:moveTo>
                <a:cubicBezTo>
                  <a:pt x="244475" y="-12293"/>
                  <a:pt x="234543" y="-22225"/>
                  <a:pt x="222250" y="-22225"/>
                </a:cubicBezTo>
                <a:cubicBezTo>
                  <a:pt x="209957" y="-22225"/>
                  <a:pt x="200025" y="-12293"/>
                  <a:pt x="200025" y="0"/>
                </a:cubicBezTo>
                <a:lnTo>
                  <a:pt x="200025" y="44450"/>
                </a:lnTo>
                <a:lnTo>
                  <a:pt x="133350" y="44450"/>
                </a:lnTo>
                <a:cubicBezTo>
                  <a:pt x="96540" y="44450"/>
                  <a:pt x="66675" y="74315"/>
                  <a:pt x="66675" y="111125"/>
                </a:cubicBezTo>
                <a:lnTo>
                  <a:pt x="66675" y="266700"/>
                </a:lnTo>
                <a:cubicBezTo>
                  <a:pt x="66675" y="303510"/>
                  <a:pt x="96540" y="333375"/>
                  <a:pt x="133350" y="333375"/>
                </a:cubicBezTo>
                <a:lnTo>
                  <a:pt x="311150" y="333375"/>
                </a:lnTo>
                <a:cubicBezTo>
                  <a:pt x="347960" y="333375"/>
                  <a:pt x="377825" y="303510"/>
                  <a:pt x="377825" y="266700"/>
                </a:cubicBezTo>
                <a:lnTo>
                  <a:pt x="377825" y="111125"/>
                </a:lnTo>
                <a:cubicBezTo>
                  <a:pt x="377825" y="74315"/>
                  <a:pt x="347960" y="44450"/>
                  <a:pt x="311150" y="44450"/>
                </a:cubicBezTo>
                <a:lnTo>
                  <a:pt x="244475" y="44450"/>
                </a:lnTo>
                <a:lnTo>
                  <a:pt x="244475" y="0"/>
                </a:lnTo>
                <a:close/>
                <a:moveTo>
                  <a:pt x="111125" y="255587"/>
                </a:moveTo>
                <a:cubicBezTo>
                  <a:pt x="111125" y="246350"/>
                  <a:pt x="118556" y="238919"/>
                  <a:pt x="127794" y="238919"/>
                </a:cubicBezTo>
                <a:lnTo>
                  <a:pt x="150019" y="238919"/>
                </a:lnTo>
                <a:cubicBezTo>
                  <a:pt x="159256" y="238919"/>
                  <a:pt x="166688" y="246350"/>
                  <a:pt x="166688" y="255587"/>
                </a:cubicBezTo>
                <a:cubicBezTo>
                  <a:pt x="166688" y="264825"/>
                  <a:pt x="159256" y="272256"/>
                  <a:pt x="150019" y="272256"/>
                </a:cubicBezTo>
                <a:lnTo>
                  <a:pt x="127794" y="272256"/>
                </a:lnTo>
                <a:cubicBezTo>
                  <a:pt x="118556" y="272256"/>
                  <a:pt x="111125" y="264825"/>
                  <a:pt x="111125" y="255587"/>
                </a:cubicBezTo>
                <a:close/>
                <a:moveTo>
                  <a:pt x="194469" y="255587"/>
                </a:moveTo>
                <a:cubicBezTo>
                  <a:pt x="194469" y="246350"/>
                  <a:pt x="201900" y="238919"/>
                  <a:pt x="211138" y="238919"/>
                </a:cubicBezTo>
                <a:lnTo>
                  <a:pt x="233363" y="238919"/>
                </a:lnTo>
                <a:cubicBezTo>
                  <a:pt x="242600" y="238919"/>
                  <a:pt x="250031" y="246350"/>
                  <a:pt x="250031" y="255587"/>
                </a:cubicBezTo>
                <a:cubicBezTo>
                  <a:pt x="250031" y="264825"/>
                  <a:pt x="242600" y="272256"/>
                  <a:pt x="233363" y="272256"/>
                </a:cubicBezTo>
                <a:lnTo>
                  <a:pt x="211138" y="272256"/>
                </a:lnTo>
                <a:cubicBezTo>
                  <a:pt x="201900" y="272256"/>
                  <a:pt x="194469" y="264825"/>
                  <a:pt x="194469" y="255587"/>
                </a:cubicBezTo>
                <a:close/>
                <a:moveTo>
                  <a:pt x="277813" y="255587"/>
                </a:moveTo>
                <a:cubicBezTo>
                  <a:pt x="277813" y="246350"/>
                  <a:pt x="285244" y="238919"/>
                  <a:pt x="294481" y="238919"/>
                </a:cubicBezTo>
                <a:lnTo>
                  <a:pt x="316706" y="238919"/>
                </a:lnTo>
                <a:cubicBezTo>
                  <a:pt x="325944" y="238919"/>
                  <a:pt x="333375" y="246350"/>
                  <a:pt x="333375" y="255587"/>
                </a:cubicBezTo>
                <a:cubicBezTo>
                  <a:pt x="333375" y="264825"/>
                  <a:pt x="325944" y="272256"/>
                  <a:pt x="316706" y="272256"/>
                </a:cubicBezTo>
                <a:lnTo>
                  <a:pt x="294481" y="272256"/>
                </a:lnTo>
                <a:cubicBezTo>
                  <a:pt x="285244" y="272256"/>
                  <a:pt x="277813" y="264825"/>
                  <a:pt x="277813" y="255587"/>
                </a:cubicBezTo>
                <a:close/>
                <a:moveTo>
                  <a:pt x="155575" y="122238"/>
                </a:moveTo>
                <a:cubicBezTo>
                  <a:pt x="173974" y="122238"/>
                  <a:pt x="188913" y="137176"/>
                  <a:pt x="188913" y="155575"/>
                </a:cubicBezTo>
                <a:cubicBezTo>
                  <a:pt x="188913" y="173974"/>
                  <a:pt x="173974" y="188913"/>
                  <a:pt x="155575" y="188913"/>
                </a:cubicBezTo>
                <a:cubicBezTo>
                  <a:pt x="137176" y="188913"/>
                  <a:pt x="122238" y="173974"/>
                  <a:pt x="122238" y="155575"/>
                </a:cubicBezTo>
                <a:cubicBezTo>
                  <a:pt x="122238" y="137176"/>
                  <a:pt x="137176" y="122238"/>
                  <a:pt x="155575" y="122238"/>
                </a:cubicBezTo>
                <a:close/>
                <a:moveTo>
                  <a:pt x="255587" y="155575"/>
                </a:moveTo>
                <a:cubicBezTo>
                  <a:pt x="255587" y="137176"/>
                  <a:pt x="270526" y="122238"/>
                  <a:pt x="288925" y="122238"/>
                </a:cubicBezTo>
                <a:cubicBezTo>
                  <a:pt x="307324" y="122238"/>
                  <a:pt x="322263" y="137176"/>
                  <a:pt x="322263" y="155575"/>
                </a:cubicBezTo>
                <a:cubicBezTo>
                  <a:pt x="322263" y="173974"/>
                  <a:pt x="307324" y="188913"/>
                  <a:pt x="288925" y="188913"/>
                </a:cubicBezTo>
                <a:cubicBezTo>
                  <a:pt x="270526" y="188913"/>
                  <a:pt x="255587" y="173974"/>
                  <a:pt x="255587" y="155575"/>
                </a:cubicBezTo>
                <a:close/>
                <a:moveTo>
                  <a:pt x="44450" y="155575"/>
                </a:moveTo>
                <a:cubicBezTo>
                  <a:pt x="44450" y="143282"/>
                  <a:pt x="34518" y="133350"/>
                  <a:pt x="22225" y="133350"/>
                </a:cubicBezTo>
                <a:cubicBezTo>
                  <a:pt x="9932" y="133350"/>
                  <a:pt x="0" y="143282"/>
                  <a:pt x="0" y="155575"/>
                </a:cubicBezTo>
                <a:lnTo>
                  <a:pt x="0" y="222250"/>
                </a:lnTo>
                <a:cubicBezTo>
                  <a:pt x="0" y="234543"/>
                  <a:pt x="9932" y="244475"/>
                  <a:pt x="22225" y="244475"/>
                </a:cubicBezTo>
                <a:cubicBezTo>
                  <a:pt x="34518" y="244475"/>
                  <a:pt x="44450" y="234543"/>
                  <a:pt x="44450" y="222250"/>
                </a:cubicBezTo>
                <a:lnTo>
                  <a:pt x="44450" y="155575"/>
                </a:lnTo>
                <a:close/>
                <a:moveTo>
                  <a:pt x="422275" y="133350"/>
                </a:moveTo>
                <a:cubicBezTo>
                  <a:pt x="409982" y="133350"/>
                  <a:pt x="400050" y="143282"/>
                  <a:pt x="400050" y="155575"/>
                </a:cubicBezTo>
                <a:lnTo>
                  <a:pt x="400050" y="222250"/>
                </a:lnTo>
                <a:cubicBezTo>
                  <a:pt x="400050" y="234543"/>
                  <a:pt x="409982" y="244475"/>
                  <a:pt x="422275" y="244475"/>
                </a:cubicBezTo>
                <a:cubicBezTo>
                  <a:pt x="434568" y="244475"/>
                  <a:pt x="444500" y="234543"/>
                  <a:pt x="444500" y="222250"/>
                </a:cubicBezTo>
                <a:lnTo>
                  <a:pt x="444500" y="155575"/>
                </a:lnTo>
                <a:cubicBezTo>
                  <a:pt x="444500" y="143282"/>
                  <a:pt x="434568" y="133350"/>
                  <a:pt x="422275" y="133350"/>
                </a:cubicBezTo>
                <a:close/>
              </a:path>
            </a:pathLst>
          </a:custGeom>
          <a:solidFill>
            <a:srgbClr val="C8962E"/>
          </a:solidFill>
          <a:ln/>
        </p:spPr>
      </p:sp>
      <p:sp>
        <p:nvSpPr>
          <p:cNvPr id="29" name="Text 27"/>
          <p:cNvSpPr/>
          <p:nvPr/>
        </p:nvSpPr>
        <p:spPr>
          <a:xfrm>
            <a:off x="9118600" y="3683000"/>
            <a:ext cx="6096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Claude AI Intelligence Briefings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36000" y="4152900"/>
            <a:ext cx="6604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AI-generated risk intelligence briefings for customs directors. Natural language summaries of violation patterns, high-risk corridors, and recommended inspection priorities.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62000" y="5651500"/>
            <a:ext cx="14732000" cy="28575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2" name="Text 30"/>
          <p:cNvSpPr/>
          <p:nvPr/>
        </p:nvSpPr>
        <p:spPr>
          <a:xfrm>
            <a:off x="1079500" y="5778500"/>
            <a:ext cx="508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Primary KPIs — Exceeded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079500" y="6286500"/>
            <a:ext cx="14097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Spring Boot 3.3 / Java 21 backend processes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10,124 GPS requests per second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P95 latency of 137ms against the 200ms SLA. The Hexagonal Architecture ensures all domain logic is tested with pure JUnit 5 —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Spring context startup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achieving 94.9% statement coverage and 100% function coverage.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React 18 TypeScript frontend provides a professional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nine-page SPA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JWT authentication (6 roles), live Recharts dashboards, React-Leaflet CEMAC map, violations management with SHA-256 certificate generation, AI risk scoring, and statistics dashboard.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21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4572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512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5024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753600" y="0"/>
            <a:ext cx="3251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spc="100" kern="0" dirty="0">
                <a:solidFill>
                  <a:srgbClr val="F8F6F1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3004800" y="0"/>
            <a:ext cx="32512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C896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3995400" y="419100"/>
            <a:ext cx="1270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6604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1B2A3D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Recommendations &amp; Future Work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762000" y="1219200"/>
            <a:ext cx="1016000" cy="381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1" name="Text 9"/>
          <p:cNvSpPr/>
          <p:nvPr/>
        </p:nvSpPr>
        <p:spPr>
          <a:xfrm>
            <a:off x="660400" y="1498600"/>
            <a:ext cx="825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4000" dirty="0"/>
          </a:p>
        </p:txBody>
      </p:sp>
      <p:sp>
        <p:nvSpPr>
          <p:cNvPr id="12" name="Shape 10"/>
          <p:cNvSpPr/>
          <p:nvPr/>
        </p:nvSpPr>
        <p:spPr>
          <a:xfrm>
            <a:off x="1524000" y="1460500"/>
            <a:ext cx="13970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524000" y="14605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000" y="1549400"/>
            <a:ext cx="134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Federated Multi-Country CEMAC Deployment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778000" y="2006600"/>
            <a:ext cx="1346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Corridors are database records in the corridors table — adding Douala–Lagos requires only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SQL INSERT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no redeployment. Extend to all 6 CEMAC member states (Cameroon, Chad, CAR, Congo, Equatorial Guinea, Gabon) with country-specific regulatory compliance.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0400" y="3403600"/>
            <a:ext cx="825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1524000" y="3365500"/>
            <a:ext cx="13970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1524000" y="33655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9" name="Text 17"/>
          <p:cNvSpPr/>
          <p:nvPr/>
        </p:nvSpPr>
        <p:spPr>
          <a:xfrm>
            <a:off x="1778000" y="3454400"/>
            <a:ext cx="134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Native Offline Android Application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78000" y="3911600"/>
            <a:ext cx="1346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React Native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handle poor 4G connectivity north of Ngaoundere. Implement GPS ping queueing with local SQLite storage and background sync when connectivity returns. Critical for trucks traversing remote CEMAC corridors.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60400" y="5308600"/>
            <a:ext cx="8255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600" dirty="0">
                <a:solidFill>
                  <a:srgbClr val="C896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1524000" y="5270500"/>
            <a:ext cx="13970000" cy="1651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1524000" y="5270500"/>
            <a:ext cx="50800" cy="1651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24" name="Text 22"/>
          <p:cNvSpPr/>
          <p:nvPr/>
        </p:nvSpPr>
        <p:spPr>
          <a:xfrm>
            <a:off x="1778000" y="5359400"/>
            <a:ext cx="1346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2A3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Vehicle-Level API Key Rotation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778000" y="5816600"/>
            <a:ext cx="1346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Current X-API-Key accepts any non-blank key. Production should validate each beacon's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SHA-256 hashed key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293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against the trucks.api_key_hash column. Implement automatic key rotation with configurable expiry windows.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62000" y="7302500"/>
            <a:ext cx="14732000" cy="1270000"/>
          </a:xfrm>
          <a:prstGeom prst="rect">
            <a:avLst/>
          </a:prstGeom>
          <a:solidFill>
            <a:srgbClr val="1B2A3D"/>
          </a:solidFill>
          <a:ln/>
        </p:spPr>
      </p:sp>
      <p:sp>
        <p:nvSpPr>
          <p:cNvPr id="27" name="Text 25"/>
          <p:cNvSpPr/>
          <p:nvPr/>
        </p:nvSpPr>
        <p:spPr>
          <a:xfrm>
            <a:off x="1079500" y="7429500"/>
            <a:ext cx="14097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Estimated ROI: 335x in the first week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based on FCFA penalty recovery rates from detected violations. The system pays for itself through automated fine collection alone, before counting operational efficiency gains.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113000" y="8763000"/>
            <a:ext cx="63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300" dirty="0">
                <a:solidFill>
                  <a:srgbClr val="64748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22</a:t>
            </a:r>
            <a:endParaRPr lang="en-US" sz="13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g.magnific.com/free-vector/5g-networking-technology-background-with-blue-digital-line_53876-119505.jpg?semt=ais_hybrid&amp;w=740&amp;q=80">    </p:cNvPr>
          <p:cNvPicPr>
            <a:picLocks noChangeAspect="1"/>
          </p:cNvPicPr>
          <p:nvPr/>
        </p:nvPicPr>
        <p:blipFill>
          <a:blip r:embed="rId1"/>
          <a:srcRect l="0" r="0" t="7784" b="7784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2A3D">
                  <a:alpha val="60000"/>
                </a:srgbClr>
              </a:gs>
              <a:gs pos="50000">
                <a:srgbClr val="1B2A3D">
                  <a:alpha val="80000"/>
                </a:srgbClr>
              </a:gs>
              <a:gs pos="100000">
                <a:srgbClr val="1B2A3D">
                  <a:alpha val="9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7175500" y="2032000"/>
            <a:ext cx="1905000" cy="254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5" name="Text 2"/>
          <p:cNvSpPr/>
          <p:nvPr/>
        </p:nvSpPr>
        <p:spPr>
          <a:xfrm>
            <a:off x="3048000" y="2286000"/>
            <a:ext cx="1016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spc="600" kern="0" dirty="0">
                <a:solidFill>
                  <a:srgbClr val="F8F6F1"/>
                </a:solidFill>
                <a:latin typeface="Unna" pitchFamily="34" charset="0"/>
                <a:ea typeface="Unna" pitchFamily="34" charset="-122"/>
                <a:cs typeface="Unn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3683000" y="3175000"/>
            <a:ext cx="889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BorderWatch — SEN3244 Software Architecture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175500" y="3810000"/>
            <a:ext cx="1905000" cy="254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8" name="Text 5"/>
          <p:cNvSpPr/>
          <p:nvPr/>
        </p:nvSpPr>
        <p:spPr>
          <a:xfrm>
            <a:off x="3048000" y="4064000"/>
            <a:ext cx="1016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Nguend Arthur Johann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(ICTU20223180) · Full-Stack Developer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Tambi Emmanuel Tambi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F8F6F1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(ICTU20233726) · Team Lead / Scrum Master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683000" y="5080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64748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BSE Year 3 · ICTU Institute of Computing Technology · 2025–2026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048000" y="5715000"/>
            <a:ext cx="1016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400" u="sng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github.com/BG-Emmanuel/BorderWatch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u="sng" dirty="0">
                <a:solidFill>
                  <a:srgbClr val="C8962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  <a:hlinkClick r:id="rId3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trello.com/b/0AE8ngDz/borderwatch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223000" y="6858000"/>
            <a:ext cx="3810000" cy="635000"/>
          </a:xfrm>
          <a:prstGeom prst="rect">
            <a:avLst/>
          </a:prstGeom>
          <a:solidFill>
            <a:srgbClr val="C8962E"/>
          </a:solidFill>
          <a:ln/>
        </p:spPr>
      </p:sp>
      <p:sp>
        <p:nvSpPr>
          <p:cNvPr id="12" name="Text 9"/>
          <p:cNvSpPr/>
          <p:nvPr/>
        </p:nvSpPr>
        <p:spPr>
          <a:xfrm>
            <a:off x="6223000" y="68580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spc="300" kern="0" dirty="0">
                <a:solidFill>
                  <a:srgbClr val="1B2A3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GROUP 7 — BSE YEAR 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BorderWatch: High-Availability GPS Goods-in-Transit Surveillance System</dc:title>
  <dc:subject>BorderWatch: High-Availability GPS Goods-in-Transit Surveillance System</dc:subject>
  <dc:creator>Kimi</dc:creator>
  <cp:lastModifiedBy>Kimi</cp:lastModifiedBy>
  <cp:revision>1</cp:revision>
  <dcterms:created xsi:type="dcterms:W3CDTF">2026-06-05T22:22:06Z</dcterms:created>
  <dcterms:modified xsi:type="dcterms:W3CDTF">2026-06-05T22:22:06Z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{"Label":"BorderWatch: High-Availability GPS Goods-in-Transit Surveillance System","ContentProducer":"001191110108MACG2KBH8F10000","ProduceID":"19e99e03-a342-8d61-8000-0000e659ee29","ReservedCode1":"","ContentPropagator":"001191110108MACG2KBH8F20000","PropagateID":"19e99e03-a342-8d61-8000-0000e659ee29","ReservedCode2":""}</vt:lpwstr>
  </property>
</Properties>
</file>